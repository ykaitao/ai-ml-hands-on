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16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9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2677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LM_MAST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48640" y="621792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Architecture Components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70382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One-slide roadmap: from embeddings and positional structure to attention, normalization, and feed-forward variants used in modern LLMs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473382" cy="1664208"/>
          </a:xfrm>
          <a:prstGeom prst="roundRect">
            <a:avLst>
              <a:gd name="adj" fmla="val 4396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" y="1737360"/>
            <a:ext cx="73152" cy="144475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86384" y="1700784"/>
            <a:ext cx="318612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r>
              <a:rPr lang="zh-CN" alt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117688"/>
            <a:ext cx="3052165" cy="762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altLang="zh-CN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</a:t>
            </a:r>
            <a:r>
              <a:rPr lang="zh-CN" alt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Sinusoidal</a:t>
            </a:r>
            <a:r>
              <a:rPr lang="zh-CN" alt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 Embedding</a:t>
            </a:r>
            <a:r>
              <a:rPr lang="en-US" altLang="zh-CN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050" b="1" dirty="0"/>
          </a:p>
          <a:p>
            <a:pPr marL="177800" indent="-177800">
              <a:buSzPct val="100000"/>
              <a:buChar char="•"/>
            </a:pPr>
            <a:r>
              <a:rPr lang="en-US" sz="1050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RoPE</a:t>
            </a:r>
            <a:r>
              <a:rPr lang="zh-CN" alt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(Rotary Positional Embedding)</a:t>
            </a:r>
            <a:endParaRPr lang="en-US" sz="1050" dirty="0"/>
          </a:p>
          <a:p>
            <a:pPr marL="177800" indent="-177800">
              <a:buSzPct val="100000"/>
              <a:buChar char="•"/>
            </a:pPr>
            <a:r>
              <a:rPr lang="en-US" sz="1050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ALiBi</a:t>
            </a:r>
            <a:r>
              <a:rPr lang="zh-CN" alt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(Attention with Linear Biases)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83769" y="1887580"/>
            <a:ext cx="3188742" cy="265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r>
              <a:rPr lang="en-US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ecide how token order is represented.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4181266" y="1627632"/>
            <a:ext cx="3473382" cy="2542948"/>
          </a:xfrm>
          <a:prstGeom prst="roundRect">
            <a:avLst>
              <a:gd name="adj" fmla="val 4396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54418" y="1737359"/>
            <a:ext cx="45719" cy="2335635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19010" y="1700784"/>
            <a:ext cx="318612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55586" y="2148718"/>
            <a:ext cx="2992319" cy="157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SzPct val="100000"/>
              <a:buFont typeface="Arial" panose="020B0604020202020204" pitchFamily="34" charset="0"/>
              <a:buChar char="•"/>
            </a:pP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MHA (Multi-Head Attention)</a:t>
            </a:r>
          </a:p>
          <a:p>
            <a:pPr marL="635000" lvl="1" indent="-177800">
              <a:buSzPct val="100000"/>
              <a:buChar char="•"/>
            </a:pP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SDPA (Scaled Dot-Product Attention)</a:t>
            </a: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177800" indent="-1778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MQA (Multi-Query Attention)</a:t>
            </a:r>
          </a:p>
          <a:p>
            <a:pPr marL="177800" indent="-1778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GQA (Grouped-Query Attention)</a:t>
            </a:r>
          </a:p>
          <a:p>
            <a:pPr marL="177800" indent="-1778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MLA (Multi-Head Latent Attention)</a:t>
            </a:r>
            <a:endParaRPr lang="en-US" sz="1050" dirty="0"/>
          </a:p>
          <a:p>
            <a:pPr marL="177800" indent="-1778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</a:t>
            </a:r>
            <a:r>
              <a:rPr lang="zh-CN" alt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Sliding Window Attention</a:t>
            </a:r>
            <a:r>
              <a:rPr lang="en-US" altLang="zh-CN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177800" indent="-177800">
              <a:buSzPct val="100000"/>
              <a:buChar char="•"/>
            </a:pPr>
            <a:r>
              <a:rPr lang="en-US" sz="1050" dirty="0"/>
              <a:t>Gated Attention</a:t>
            </a:r>
            <a:endParaRPr lang="en-US" sz="1050" dirty="0">
              <a:solidFill>
                <a:srgbClr val="475569"/>
              </a:solidFill>
              <a:latin typeface="Arial" pitchFamily="34" charset="0"/>
              <a:cs typeface="Arial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050" dirty="0"/>
              <a:t>Hybrid Attention</a:t>
            </a:r>
          </a:p>
          <a:p>
            <a:pPr marL="177800" indent="-1778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 Cache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416395" y="1887580"/>
            <a:ext cx="3188742" cy="265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r>
              <a:rPr lang="en-US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overn token-token interaction patterns and efficiency.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3473382" cy="1664208"/>
          </a:xfrm>
          <a:prstGeom prst="roundRect">
            <a:avLst>
              <a:gd name="adj" fmla="val 4396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1792" y="3721608"/>
            <a:ext cx="73152" cy="1444752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86384" y="3685032"/>
            <a:ext cx="318612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4101936"/>
            <a:ext cx="30222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</a:t>
            </a:r>
            <a:endParaRPr lang="en-US" sz="1050" b="1" dirty="0"/>
          </a:p>
          <a:p>
            <a:pPr marL="177800" indent="-177800">
              <a:buSzPct val="100000"/>
              <a:buChar char="•"/>
            </a:pPr>
            <a:r>
              <a:rPr lang="en-US" sz="1050" b="1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LayerNorm</a:t>
            </a:r>
            <a:endParaRPr lang="en-US" sz="1050" b="1" dirty="0"/>
          </a:p>
          <a:p>
            <a:pPr marL="177800" indent="-177800">
              <a:buSzPct val="100000"/>
              <a:buChar char="•"/>
            </a:pPr>
            <a:r>
              <a:rPr lang="en-US" sz="1050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RMSNorm</a:t>
            </a:r>
            <a:endParaRPr lang="en-US" sz="1050" dirty="0"/>
          </a:p>
          <a:p>
            <a:pPr marL="177800" indent="-1778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QK-Norm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3769" y="3853540"/>
            <a:ext cx="3188742" cy="265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r>
              <a:rPr lang="zh-CN" altLang="en-US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stability.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4181266" y="4265020"/>
            <a:ext cx="3473382" cy="1011067"/>
          </a:xfrm>
          <a:prstGeom prst="roundRect">
            <a:avLst>
              <a:gd name="adj" fmla="val 4396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254418" y="4331684"/>
            <a:ext cx="73152" cy="877739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19010" y="4309463"/>
            <a:ext cx="3186127" cy="16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r>
              <a:rPr lang="zh-CN" alt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r>
              <a:rPr lang="zh-CN" alt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r>
              <a:rPr lang="zh-CN" alt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(FFN)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55586" y="4616552"/>
            <a:ext cx="2992319" cy="527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</a:t>
            </a:r>
            <a:r>
              <a:rPr lang="en-US" altLang="zh-CN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</a:t>
            </a:r>
            <a:r>
              <a:rPr lang="en-US" altLang="zh-CN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FFN</a:t>
            </a:r>
            <a:endParaRPr lang="en-US" sz="1050" b="1" dirty="0">
              <a:solidFill>
                <a:srgbClr val="47556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Mixture-of-Experts</a:t>
            </a:r>
            <a:endParaRPr lang="en-US" sz="1050" dirty="0"/>
          </a:p>
          <a:p>
            <a:pPr marL="177800" indent="-177800">
              <a:buSzPct val="100000"/>
              <a:buChar char="•"/>
            </a:pPr>
            <a:r>
              <a:rPr lang="en-US" altLang="zh-CN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Activations</a:t>
            </a:r>
            <a:r>
              <a:rPr lang="zh-CN" alt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GELU</a:t>
            </a:r>
            <a:r>
              <a:rPr lang="en-US" altLang="zh-CN" sz="1050" dirty="0"/>
              <a:t>,</a:t>
            </a:r>
            <a:r>
              <a:rPr lang="zh-CN" altLang="en-US" sz="1050" dirty="0"/>
              <a:t> </a:t>
            </a:r>
            <a:r>
              <a:rPr lang="en-US" sz="1050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SiLU</a:t>
            </a:r>
            <a:r>
              <a:rPr lang="en-US" altLang="zh-CN" sz="1050" dirty="0"/>
              <a:t>,</a:t>
            </a:r>
            <a:r>
              <a:rPr lang="zh-CN" altLang="en-US" sz="1050" dirty="0"/>
              <a:t> </a:t>
            </a:r>
            <a:r>
              <a:rPr lang="en-US" sz="1050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SwiGLU</a:t>
            </a:r>
            <a:r>
              <a:rPr lang="en-US" altLang="zh-CN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416395" y="4431934"/>
            <a:ext cx="3188742" cy="200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r>
              <a:rPr lang="en-US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etermine</a:t>
            </a:r>
            <a:r>
              <a:rPr lang="en-US" altLang="zh-CN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per-token nonlinear transformatio</a:t>
            </a:r>
            <a:r>
              <a:rPr lang="en-US" altLang="zh-CN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r>
              <a:rPr lang="en-US" sz="10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548640" y="546811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FCFCFD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21792" y="5577840"/>
            <a:ext cx="73152" cy="47548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6384" y="5541264"/>
            <a:ext cx="10707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Notation used throughout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" y="583387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B=batch  •  T=sequence length  •  d=model dim  •  H=</a:t>
            </a:r>
            <a:r>
              <a:rPr lang="en-US" altLang="zh-CN" sz="9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r>
              <a:rPr lang="zh-CN" altLang="en-US" sz="9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9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</a:t>
            </a:r>
            <a:r>
              <a:rPr lang="zh-CN" altLang="en-US" sz="9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3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heads  •  d_h=per-head dim  •  G=KV groups  •  r=latent rank  •  E=experts  •  k=top-k routed experts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6422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CN" sz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References:</a:t>
            </a:r>
            <a:r>
              <a:rPr lang="zh-CN" altLang="en-US" sz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https://</a:t>
            </a:r>
            <a:r>
              <a:rPr lang="en-US" altLang="zh-CN" sz="10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sebastianraschka.com</a:t>
            </a:r>
            <a:r>
              <a:rPr lang="en-US" altLang="zh-CN" sz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en-US" altLang="zh-CN" sz="10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r>
              <a:rPr lang="en-US" altLang="zh-CN" sz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-architecture-gallery/</a:t>
            </a:r>
            <a:endParaRPr lang="en-US" sz="10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1026" name="Picture 2" descr="Figure 2: GPT-2 XL 1.5B">
            <a:extLst>
              <a:ext uri="{FF2B5EF4-FFF2-40B4-BE49-F238E27FC236}">
                <a16:creationId xmlns:a16="http://schemas.microsoft.com/office/drawing/2014/main" id="{CCED0BE7-4784-4045-6730-6605BBE5F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1395" y="390604"/>
            <a:ext cx="4470605" cy="4867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 Embedding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order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Transformer paper uses fixed sinusoidal positional encodings, added to token embeddings at the bottoms of the encoder and decoder stacks.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634044"/>
            <a:ext cx="5084064" cy="27978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Attention Is All You Need, the stack input is √d · token_embedding + PE, with PE shared across the batch.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2563EB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SinusoidalPositionalEncoding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max_len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position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arange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max_len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div_term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arange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tensor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10000.0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max_len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div_term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div_term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register_buffer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'pe'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tok_emb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tok_emb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tok_emb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tok_emb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0.5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tok_emb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tok_emb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token ids [B,T], token embeddings [</a:t>
            </a:r>
            <a:r>
              <a:rPr lang="en-US" sz="92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B,T,d</a:t>
            </a: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], sinusoidal PE table [</a:t>
            </a:r>
            <a:r>
              <a:rPr lang="en-US" sz="92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T,d</a:t>
            </a: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], stack input [</a:t>
            </a:r>
            <a:r>
              <a:rPr lang="en-US" sz="92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B,T,d</a:t>
            </a: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Vaswani et al., Attention Is All You Need (2017)   •   Used in: GPT-2, BERT, GPT-3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RoPE (Rotary Position Embeddings)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order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Rotates paired Q/K coordinates by position-dependent angles, turning dot products into a relative-position-aware similarity measure.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5946" y="1545336"/>
            <a:ext cx="4448908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RoPE is applied after Q/K projection and before computing attention scores.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2563EB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apply_rope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x2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[...,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[...,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flatten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rot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sin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apply_rope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[B,H,T,d_h]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apply_rope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[B,H,T,d_h]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Q,K [B,H,T,d_h], angle table [T,d_h/2], rotated Q/K keep the same shape, scores [B,H,T,T].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Su et al., RoFormer (2021)   •   Used in: LLaMA/Llama 2/3, DeepSeek-V2/V3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ALiBi (Attention with Linear Biases)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order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a head-specific linear distance penalty directly to attention scores so the model can represent recency bias without explicit positional vectors.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8905" y="1545336"/>
            <a:ext cx="2662989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heads use different slopes m_h, giving a spectrum from local to more global attention bias.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2563EB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alibi_attention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slopes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arange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device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:]).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clamp_min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[T,T]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bias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slopes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dist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[H,T,T]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@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0.5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bias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weights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weights @ v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Q,K [B,H,T,d_h], raw scores [B,H,T,T], ALiBi bias [H,T,T], biased scores [B,H,T,T].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Press et al., Train Short, Test Long (2021)   •   Used in: BLOOM, MPT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Randomly drops activations during training and rescales the survivors, reducing co-adaptation and overfitting.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449" y="1545336"/>
            <a:ext cx="3679902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evaluation time, dropout is disabled and the identity map is used.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891B2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DropoutBlock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Dropout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x, mask, y all share the same tensor shape, often [B,T,d] or [B,H,T,T] in attention dropout.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Srivastava et al., Dropout (2014)   •   Used in: Transformer, BERT, GPT-2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LayerNorm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Normalizes each token across its feature dimension using mean and variance, then applies learned affine parameters.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6227" y="1545336"/>
            <a:ext cx="2348345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Transformers, μ and σ² are computed over the last dimension d for each token independently.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891B2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LayerNormLastDim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1e-5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gamma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beta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mean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keepdim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keepdim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unbiased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x_hat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sqrt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gamma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x_hat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beta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x,y [B,T,d]; mean and variance are [B,T,1]; γ and β are [d].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Ba et al., Layer Normalization (2016)   •   Used in: Transformer, BERT, GPT-2, OPT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RMSNorm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Normalizes only by root-mean-square magnitude and omits mean subtraction, which is cheaper and popular in modern LLMs.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09011" y="1545336"/>
            <a:ext cx="2582779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RMSNorm keeps the direction of x but rescales its RMS magnitude on the last dimension.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891B2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RMSNorm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1e-6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rms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rsqrt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keepdim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rms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x,y [B,T,d]; rms factor [B,T,1]; learned scale γ [d].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Zhang &amp; Sennrich, RMSNorm (2019)   •   Used in: LLaMA/Llama 2, Mistral, OpenELM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 Attention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attention operator: compare queries against keys, normalize with softmax, then aggregate values.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5555" y="1545336"/>
            <a:ext cx="334969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mask M is often causal and/or padded; scores are normalized along the key axis.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mask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d_h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@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0.5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mask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scores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masked_fill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float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'-inf'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weights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weights @ v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 [B,H,T_q,d_h], K [B,H,T_k,d_h], V [B,H,T_k,d_v], output [B,H,T_q,d_v].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Vaswani et al., Attention Is All You Need (2017)   •   Used in: BERT, GPT-2, Llama 2/3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Attention (MHA)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Q/K/V into multiple subspaces, runs attention independently in each head, then concatenates the results.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696658"/>
            <a:ext cx="5084064" cy="1545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head gets its own learned projections and can specialize to different patterns.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MultiHeadAttention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qkv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qkv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chunk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reshape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 [B,T,d], Q/K/V [B,H,T,d_h], concat [B,T,H·d_h], projected output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Vaswani et al., Attention Is All You Need (2017)   •   Used in: Transformer, BERT, GPT-2/3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Multi-Query Attention (MQA)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many query heads but a single shared key/value head, giving the smallest KV cache among standard attention-sharing variants.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645823"/>
            <a:ext cx="5084064" cy="25622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MQA is the extreme sharing case: all query heads reuse the same K and V tensors.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MultiQueryAttention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[B,1,T,d_h]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 [B,H,T,d_h], K/V [B,1,T,d_h], expanded shared KV [B,H,T,d_h], output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Shazeer, Fast Transformer Decoding (2019)   •   Used in: PaLM, Falcon, StarCoder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Grouped-Query Attention (GQA)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many query heads but fewer K/V groups, reducing KV-cache memory and decode bandwidth while keeping more query diversity than MQA.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627682"/>
            <a:ext cx="5084064" cy="2925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head h maps to one KV group g(h); each group is shared across several heads.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GroupedQueryAttention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num_q_heads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num_kv_groups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num_q_heads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num_kv_groups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num_q_heads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repeat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repeat_interleave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repeat_interleave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 [B,H,T,d_h], K/V [B,G,T,d_h], repeated KV after sharing [B,H,T,d_h], output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Ainslie et al., GQA (2023)   •   Used in: Llama 2 70B, Llama 3, OpenELM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Latent Attention (MLA)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Compresses KV information into a lower-rank latent state, then reconstructs or expands head-specific K/V features from that compact cache.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670820"/>
            <a:ext cx="5084064" cy="2062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DeepSeek implementation is more detailed; this slide shows the core low-rank compression idea.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LatentAttention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latent_rank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latent_rank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latent_rank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latent_rank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[B,T,r]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 [B,T,d], latent cache C [B,T,r], Q [B,H,T,d_h], reconstructed K/V [B,H,T,d_h or d_v].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DeepSeek-AI, DeepSeek-V2 (2024)   •   Used in: DeepSeek-V2, DeepSeek-V3, DeepSeek-R1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Sliding Window Attention (SWA)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each token to attend only to a local window of nearby keys, improving long-context efficiency by sparsifying the attention pattern.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5426" y="1545336"/>
            <a:ext cx="3889948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 window size w replaces full O(T²) connectivity with a banded pattern.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sliding_window_attention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window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@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0.5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idx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arange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device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too_old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window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causal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mask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too_old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causal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masked_fill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float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'-inf'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v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Q/K/V [B,H,T,d_h], local scores [B,H,T,w], output [B,H,T,d_h].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Beltagy et al., Longformer (2020)   •   Used in: Longformer, Mistral 7B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 Cache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past keys and values during autoregressive decoding so each new token only computes attention against the growing cache instead of recomputing old projections.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638828"/>
            <a:ext cx="5084064" cy="270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decode step t, the query has sequence length 1 while the cached K/V length grows with 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decode_step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k_cache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v_cache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q_t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[B,H,1,d_h]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k_t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v_t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k_cache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k_cache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k_t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[B,H,t,d_h]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v_cache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v_cache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v_t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y_t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k_cache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v_cache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y_t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k_cache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v_cache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x_t [B,1,d], q_t [B,H,1,d_h], cached K/V [B,H,t,d_h], output y_t [B,H,1,d_h].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Vaswani et al., Attention Is All You Need (2017); fast-decoding analysis in Shazeer (2019)   •   Used in: GPT-2/3, Llama 2/3, DeepSeek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QK-Norm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Normalizes query and key vectors before the dot product, controlling score magnitude and often improving optimization stability.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548312"/>
            <a:ext cx="5084064" cy="4512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learned scalar s or per-head scale often replaces the usual 1/√d_h factor.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891B2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qk_norm_attention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@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weights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weights @ v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Q,K [B,H,T,d_h], normalized Q/K same shape, scores [B,H,T,T], output [B,H,T,d_v].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Henry et al., Query-Key Normalization for Transformers (2020)   •   Used in: OLMo 2, Chameleon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Mixture-of-Experts (MoE)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capacity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each token to a small subset of experts so the model gets high total capacity while activating only a few feed-forward blocks per token.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4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3587" y="1545336"/>
            <a:ext cx="2673626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expert path is sometimes added on top of the routed experts in modern sparse LLMs.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59669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SimpleMoE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d_hidden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num_experts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num_experts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experts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ModuleList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Sequential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d_hidden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GELU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d_hidden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range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num_experts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gates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topi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gates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zip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unbind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topi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unbind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expert_out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experts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enumerate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))])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out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expert_out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view_as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out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 [B,T,d], router logits [B,T,E], top-k weights [B,T,k], expert outputs [B,T,d], final y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Jacobs et al., Adaptive Mixtures of Local Experts (1991); Transformer-scale MoE: Shazeer et al. (2017)   •   Used in: Switch Transformer, Mixtral, DeepSeek-V2/V3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Activations &amp; gated MLPs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smooth nonlinearity that keeps small negative values instead of hard-clipping them like ReLU.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38" y="1545336"/>
            <a:ext cx="4240924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Widely used in feed-forward blocks of GPT/BERT-style Transformers.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D97706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GELUActivation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gelu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# or explicitly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# y = 0.5 * x * (1.0 + torch.tanh(math.sqrt(2 / math.pi) * (x + 0.044715 * x**3)))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pointwise activation on x and y with identical shape, typically [*, d_ff].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Hendrycks &amp; Gimpel, GELUs (2016)   •   Used in: BERT, GPT-2, Falcon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SiLU / Swish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Activations &amp; gated MLPs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Multiplies each value by its sigmoid gate, giving a smooth self-gating activation widely used in modern gated MLPs.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55821" y="1545336"/>
            <a:ext cx="3489158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SiLU often appears inside gated feed-forward blocks such as SwiGLU variants.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D97706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SiLUActivation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silu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# equivalent: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# y = x * torch.sigmoid(x)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pointwise activation on x and y with identical shape, typically [*, d_ff].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Elfwing et al., SiLU (2017); popularized as Swish by Ramachandran et al. (2017)   •   Used in: Inside SwiGLU in PaLM, Llama 2/3, Mistral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SwiGLU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Activations &amp; gated MLPs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gated feed-forward block that combines a SiLU gate branch with a value branch before projecting back to the model dimension.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623964"/>
            <a:ext cx="5084064" cy="29994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SwiGLU is commonly used in modern Transformer MLPs because the gate improves expressivity at similar compute cost.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D97706"/>
            </a:solidFill>
            <a:prstDash val="solid"/>
          </a:ln>
          <a:effectLst>
            <a:outerShdw blurRad="25400" dist="12700" dir="2700000" algn="bl" rotWithShape="0">
              <a:srgbClr val="94A3B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SwiGLU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d_ff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wg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d_ff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bias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wu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r>
              <a:rPr lang="en-US" sz="940" dirty="0" err="1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d_ff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bias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d_ff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bias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forward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gate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silu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wg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up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wu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up</a:t>
            </a: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 [B,T,d], gate/up [B,T,d_{ff}], gated product [B,T,d_{ff}], output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Shazeer, GLU Variants Improve Transformer (2020)   •   Used in: PaLM, Llama 2/3, Mistral, OpenELM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5326</Words>
  <Application>Microsoft Macintosh PowerPoint</Application>
  <PresentationFormat>Widescreen</PresentationFormat>
  <Paragraphs>250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Architecture Components</dc:title>
  <dc:subject>LLM architecture components</dc:subject>
  <dc:creator>OpenAI Codex</dc:creator>
  <cp:lastModifiedBy>Kaitao Yang</cp:lastModifiedBy>
  <cp:revision>31</cp:revision>
  <dcterms:created xsi:type="dcterms:W3CDTF">2026-03-29T04:54:47Z</dcterms:created>
  <dcterms:modified xsi:type="dcterms:W3CDTF">2026-03-29T05:58:43Z</dcterms:modified>
</cp:coreProperties>
</file>