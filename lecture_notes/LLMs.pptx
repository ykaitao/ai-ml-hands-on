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LM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83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Architecture Components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12435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Formulas, tensor-shape diagrams, and PyTorch reference implementations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9019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49377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&amp; position: Positional Embedding, RoPE, NoPE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&amp; regularization: Dropout, LayerNorm, RMSNorm, QK-Norm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family: Scaled Dot-Product, MHA, GQA, MLA, Sliding Window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capacity &amp; activations: Mixture-of-Experts, GELU, SiLU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component slide includes: formula, tensor-shape flow diagram, and PyTorch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523951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65392" y="1901952"/>
            <a:ext cx="4910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used throughout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267712"/>
            <a:ext cx="47548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= batch size, T = sequence length, d = model dimension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number of attention heads, d_h = per-head dimension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number of KV groups (for GQA), r = latent rank (for MLA)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number of experts, k = top-k routed experts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snippets assume: import torch, torch.nn as nn, torch.nn.functional as 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18134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for lecture_notes/LLMs.pptx • editable PowerPoint deck authored with PptxGenJS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of component slides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prompt repeated GQA twice; this deck keeps a single dedicated GQA slide.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03320" cy="4846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&amp; position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" y="17830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703320" cy="4846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399032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&amp; normalization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78308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Attention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QK-Norm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325880"/>
            <a:ext cx="3319272" cy="484632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85632" y="1399032"/>
            <a:ext cx="2990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compute &amp; activations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1783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49640" y="43891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slide is intentionally pedagogical rather than model-specific; the shapes describe the common tensor contracts used in PyTorch LLM implementations.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Embedding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 position-dependent vector to token embeddings so the model can distinguish order before any attention happens.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and sinusoidal position tables both map each position index to a d-dimensional vector.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LearnedPositionalEmbedding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max_len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pos_ids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pos_ids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token ids [B,T], token embeddings [B,T,d], position table [T,d], output hidden states [B,T,d].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(Rotary Position Embeddings)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paired Q/K coordinates by position-dependent angles, turning dot products into a relative-position-aware similarity measure.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RoPE is applied after Q/K projection and before computing attention scores.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x2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flatten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[B,H,T,d_h]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apply_rope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[B,H,T,d_h]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Q,K [B,H,T,d_h], angle table [T,d_h/2], rotated Q/K keep the same shape, scores [B,H,T,T].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NoPE (No Positional Embeddings)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explicit positional signals entirely; order then must emerge from masking, data statistics, or other architectural biases.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attention rule is unchanged, but there is no learned/sinusoidal/rotary positional term.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nope_attention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[B,T,H*d_h]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v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Q/K/V [B,H,T,d_h], scores [B,H,T,T], output [B,T,d].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drops activations during training and rescales the survivors, reducing co-adaptation and overfitting.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evaluation time, dropout is disabled and the identity map is used.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DropoutBlock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 mask, y all share the same tensor shape, often [B,T,d] or [B,H,T,T] in attention dropout.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each token across its feature dimension using mean and variance, then applies learned affine parameters.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Transformers, μ and σ² are computed over the last dimension d for each token independently.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LayerNormLastDim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1e-5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mean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unbiased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x_hat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sqrt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x_hat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beta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x,y [B,T,d]; mean and variance are [B,T,1]; γ and β are [d].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only by root-mean-square magnitude and omits mean subtraction, which is cheaper and popular in modern LLMs.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RMSNorm keeps the direction of x but rescales its RMS magnitude on the last dimension.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RMSNorm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1e-6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rms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rsqrt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keepdim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rms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x,y [B,T,d]; rms factor [B,T,1]; learned scale γ [d].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attention operator: compare queries against keys, normalize with softmax, then aggregate values.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mask M is often causal and/or padded; scores are normalized along the key axis.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mask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 [B,H,T_q,d_h], K [B,H,T_k,d_h], V [B,H,T_k,d_v], output [B,H,T_q,d_v].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(MHA)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Q/K/V into multiple subspaces, runs attention independently in each head, then concatenates the results.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gets its own learned projections and can specialize to different patterns.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MultiHeadAttention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reshape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Q/K/V [B,H,T,d_h], concat [B,T,H·d_h], projected output [B,T,d].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Grouped-Query Attention (GQA)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many query heads but fewer K/V groups, reducing KV-cache memory and decode bandwidth while keeping more query diversity than MQA.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head h maps to one KV group g(h); each group is shared across several heads.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GroupedQueryAttention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num_kv_groups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num_kv_groups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num_q_heads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repeat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repeat_interleave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repeat_interleave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 [B,H,T,d_h], K/V [B,G,T,d_h], repeated KV after sharing [B,H,T,d_h], output [B,T,d].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 (MLA)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Compresses KV information into a lower-rank latent state, then reconstructs or expands head-specific K/V features from that compact cache.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DeepSeek implementation is more detailed; this slide shows the core low-rank compression idea.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latent_rank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num_heads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[B,T,r]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scaled_dot_product_attention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latent cache C [B,T,r], Q [B,H,T,d_h], reconstructed K/V [B,H,T,d_h or d_v].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Attention (SWA)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each token to attend only to a local window of nearby keys, improving long-context efficiency by sparsifying the attention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window size w replaces full O(T²) connectivity with a banded pattern.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sliding_window_attention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window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too_old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window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causal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AE8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too_old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causal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masked_fill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'-inf'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@ v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Q/K/V [B,H,T,d_h], local scores [B,H,T,w], output [B,H,T,d_h].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QK-Norm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query and key vectors before the dot product, controlling score magnitude and often improving optimization stability.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learned scalar s or per-head scale often replaces the usual 1/√d_h factor.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qk_norm_attention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scale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@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transpose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weights @ v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Q,K [B,H,T,d_h], normalized Q/K same shape, scores [B,H,T,T], output [B,H,T,d_v].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 (MoE)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token to a small subset of experts so the model gets high total capacity while activating only a few feed-forward blocks per token.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expert path is sometimes added on top of the routed experts in modern sparse LLMs.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SimpleMoE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ModuleList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d_hidden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d_model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gates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softmax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gates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idx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unbind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unbind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expert_out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torch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weight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unsqueeze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expert_out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view_as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out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x [B,T,d], router logits [B,T,E], top-k weights [B,T,k], expert outputs [B,T,d], final y [B,T,d].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smooth nonlinearity that keeps small negative values instead of hard-clipping them like ReLU.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used in feed-forward blocks of GPT/BERT-style Transformers.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GELUActivation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explicitly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0.5 * x * (1.0 + torch.tanh(math.sqrt(2 / math.pi) * (x + 0.044715 * x**3)))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pointwise activation on x and y with identical shape, typically [*, d_ff].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 / Swish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85216" y="84124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Multiplies each value by its sigmoid gate, giving a smooth self-gating activation widely used in modern gated MLPs.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54864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243584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formula / tensor contract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084064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10312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SiLU often appears inside gated feed-forward blocks such as SwiGLU variants.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78608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65176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Shape-aware diagram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928" y="2907792"/>
            <a:ext cx="5266944" cy="2944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63640" y="1170432"/>
            <a:ext cx="5470855" cy="4928616"/>
          </a:xfrm>
          <a:prstGeom prst="roundRect">
            <a:avLst>
              <a:gd name="adj" fmla="val 148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4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28232" y="1243584"/>
            <a:ext cx="5141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implementation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28232" y="1481328"/>
            <a:ext cx="5141671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SiLUActivation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40" dirty="0">
                <a:solidFill>
                  <a:srgbClr val="66D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silu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940" dirty="0">
                <a:solidFill>
                  <a:srgbClr val="F8F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equivalent:</a:t>
            </a:r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940" dirty="0">
                <a:solidFill>
                  <a:srgbClr val="8292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x * torch.sigmoid(x)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566928" y="632764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Shapes: pointwise activation on x and y with identical shape, typically [*, d_ff].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2E8F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Architecture Components</dc:title>
  <dc:subject>LLM architecture components</dc:subject>
  <dc:creator>OpenAI Codex</dc:creator>
  <cp:lastModifiedBy>OpenAI Codex</cp:lastModifiedBy>
  <cp:revision>1</cp:revision>
  <dcterms:created xsi:type="dcterms:W3CDTF">2026-03-29T01:55:19Z</dcterms:created>
  <dcterms:modified xsi:type="dcterms:W3CDTF">2026-03-29T01:55:19Z</dcterms:modified>
</cp:coreProperties>
</file>