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LM_MAST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1908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2E8F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1908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2E8F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image" Target="../media/image-13-3.png"/><Relationship Id="rId4" Type="http://schemas.openxmlformats.org/officeDocument/2006/relationships/image" Target="../media/image-13-4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image" Target="../media/image-14-3.png"/><Relationship Id="rId4" Type="http://schemas.openxmlformats.org/officeDocument/2006/relationships/image" Target="../media/image-14-4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image" Target="../media/image-15-3.png"/><Relationship Id="rId4" Type="http://schemas.openxmlformats.org/officeDocument/2006/relationships/image" Target="../media/image-15-4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image" Target="../media/image-16-3.png"/><Relationship Id="rId4" Type="http://schemas.openxmlformats.org/officeDocument/2006/relationships/image" Target="../media/image-16-4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image" Target="../media/image-17-3.png"/><Relationship Id="rId4" Type="http://schemas.openxmlformats.org/officeDocument/2006/relationships/image" Target="../media/image-17-4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image" Target="../media/image-18-3.png"/><Relationship Id="rId4" Type="http://schemas.openxmlformats.org/officeDocument/2006/relationships/image" Target="../media/image-18-4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svg"/><Relationship Id="rId3" Type="http://schemas.openxmlformats.org/officeDocument/2006/relationships/image" Target="../media/image-19-3.png"/><Relationship Id="rId4" Type="http://schemas.openxmlformats.org/officeDocument/2006/relationships/image" Target="../media/image-19-4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svg"/><Relationship Id="rId3" Type="http://schemas.openxmlformats.org/officeDocument/2006/relationships/image" Target="../media/image-20-3.png"/><Relationship Id="rId4" Type="http://schemas.openxmlformats.org/officeDocument/2006/relationships/image" Target="../media/image-20-4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87968" y="640080"/>
            <a:ext cx="2267712" cy="457200"/>
          </a:xfrm>
          <a:prstGeom prst="roundRect">
            <a:avLst>
              <a:gd name="adj" fmla="val 32000"/>
            </a:avLst>
          </a:prstGeom>
          <a:solidFill>
            <a:srgbClr val="E0E7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997696" y="77724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Merged 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Architecture Components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1887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One-slide roadmap: from embeddings and positional structure to attention, normalization, and feed-forward variants used in modern LLMs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27632"/>
            <a:ext cx="5440680" cy="1664208"/>
          </a:xfrm>
          <a:prstGeom prst="roundRect">
            <a:avLst>
              <a:gd name="adj" fmla="val 4396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21792" y="1737360"/>
            <a:ext cx="73152" cy="144475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1700784"/>
            <a:ext cx="5056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057400"/>
            <a:ext cx="46634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4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Positional Embedding</a:t>
            </a:r>
            <a:pPr indent="0" marL="0">
              <a:buNone/>
            </a:pPr>
            <a:r>
              <a:rPr lang="en-US" sz="14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430" dirty="0"/>
          </a:p>
          <a:p>
            <a:pPr marL="177800" indent="-177800">
              <a:buSzPct val="100000"/>
              <a:buChar char="•"/>
            </a:pPr>
            <a:r>
              <a:rPr lang="en-US" sz="14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RoPE</a:t>
            </a:r>
            <a:pPr indent="0" marL="0">
              <a:buNone/>
            </a:pPr>
            <a:r>
              <a:rPr lang="en-US" sz="14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430" dirty="0"/>
          </a:p>
          <a:p>
            <a:pPr marL="177800" indent="-177800">
              <a:buSzPct val="100000"/>
              <a:buChar char="•"/>
            </a:pPr>
            <a:r>
              <a:rPr lang="en-US" sz="14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ALiBi</a:t>
            </a:r>
            <a:pPr indent="0" marL="0">
              <a:buNone/>
            </a:pPr>
            <a:r>
              <a:rPr lang="en-US" sz="14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430" dirty="0"/>
          </a:p>
          <a:p>
            <a:pPr marL="177800" indent="-177800">
              <a:buSzPct val="100000"/>
              <a:buChar char="•"/>
            </a:pPr>
            <a:r>
              <a:rPr lang="en-US" sz="14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NoPE</a:t>
            </a:r>
            <a:endParaRPr lang="en-US" sz="1430" dirty="0"/>
          </a:p>
        </p:txBody>
      </p:sp>
      <p:sp>
        <p:nvSpPr>
          <p:cNvPr id="10" name="Text 8"/>
          <p:cNvSpPr/>
          <p:nvPr/>
        </p:nvSpPr>
        <p:spPr>
          <a:xfrm>
            <a:off x="822960" y="3035808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decide how token order is represented before or inside attention.</a:t>
            </a:r>
            <a:endParaRPr lang="en-US" sz="1030" dirty="0"/>
          </a:p>
        </p:txBody>
      </p:sp>
      <p:sp>
        <p:nvSpPr>
          <p:cNvPr id="11" name="Shape 9"/>
          <p:cNvSpPr/>
          <p:nvPr/>
        </p:nvSpPr>
        <p:spPr>
          <a:xfrm>
            <a:off x="6199632" y="1627632"/>
            <a:ext cx="5440680" cy="1664208"/>
          </a:xfrm>
          <a:prstGeom prst="roundRect">
            <a:avLst>
              <a:gd name="adj" fmla="val 4396"/>
            </a:avLst>
          </a:prstGeom>
          <a:solidFill>
            <a:srgbClr val="FAF5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72784" y="1737360"/>
            <a:ext cx="73152" cy="144475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37376" y="1700784"/>
            <a:ext cx="5056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73952" y="1965960"/>
            <a:ext cx="45720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Scaled Dot-Product</a:t>
            </a:r>
            <a:pPr indent="0" marL="0">
              <a:buNone/>
            </a:pPr>
            <a:r>
              <a:rPr lang="en-US" sz="13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310" dirty="0"/>
          </a:p>
          <a:p>
            <a:pPr marL="177800" indent="-177800">
              <a:buSzPct val="100000"/>
              <a:buChar char="•"/>
            </a:pPr>
            <a:r>
              <a:rPr lang="en-US" sz="13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MHA</a:t>
            </a:r>
            <a:pPr indent="0" marL="0">
              <a:buNone/>
            </a:pPr>
            <a:r>
              <a:rPr lang="en-US" sz="13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310" dirty="0"/>
          </a:p>
          <a:p>
            <a:pPr marL="177800" indent="-177800">
              <a:buSzPct val="100000"/>
              <a:buChar char="•"/>
            </a:pPr>
            <a:r>
              <a:rPr lang="en-US" sz="13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MQA</a:t>
            </a:r>
            <a:pPr indent="0" marL="0">
              <a:buNone/>
            </a:pPr>
            <a:r>
              <a:rPr lang="en-US" sz="13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310" dirty="0"/>
          </a:p>
          <a:p>
            <a:pPr marL="177800" indent="-177800">
              <a:buSzPct val="100000"/>
              <a:buChar char="•"/>
            </a:pPr>
            <a:r>
              <a:rPr lang="en-US" sz="13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GQA</a:t>
            </a:r>
            <a:pPr indent="0" marL="0">
              <a:buNone/>
            </a:pPr>
            <a:r>
              <a:rPr lang="en-US" sz="13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310" dirty="0"/>
          </a:p>
          <a:p>
            <a:pPr marL="177800" indent="-177800">
              <a:buSzPct val="100000"/>
              <a:buChar char="•"/>
            </a:pPr>
            <a:r>
              <a:rPr lang="en-US" sz="13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MLA</a:t>
            </a:r>
            <a:pPr indent="0" marL="0">
              <a:buNone/>
            </a:pPr>
            <a:r>
              <a:rPr lang="en-US" sz="13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310" dirty="0"/>
          </a:p>
          <a:p>
            <a:pPr marL="177800" indent="-177800">
              <a:buSzPct val="100000"/>
              <a:buChar char="•"/>
            </a:pPr>
            <a:r>
              <a:rPr lang="en-US" sz="13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Sliding Window Attention</a:t>
            </a:r>
            <a:pPr indent="0" marL="0">
              <a:buNone/>
            </a:pPr>
            <a:r>
              <a:rPr lang="en-US" sz="13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310" dirty="0"/>
          </a:p>
          <a:p>
            <a:pPr marL="177800" indent="-177800">
              <a:buSzPct val="100000"/>
              <a:buChar char="•"/>
            </a:pPr>
            <a:r>
              <a:rPr lang="en-US" sz="13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KV Cache</a:t>
            </a:r>
            <a:endParaRPr lang="en-US" sz="1310" dirty="0"/>
          </a:p>
        </p:txBody>
      </p:sp>
      <p:sp>
        <p:nvSpPr>
          <p:cNvPr id="15" name="Text 13"/>
          <p:cNvSpPr/>
          <p:nvPr/>
        </p:nvSpPr>
        <p:spPr>
          <a:xfrm>
            <a:off x="6473952" y="3035808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govern token-token interaction patterns and decoding efficiency.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548640" y="3611880"/>
            <a:ext cx="5440680" cy="1664208"/>
          </a:xfrm>
          <a:prstGeom prst="roundRect">
            <a:avLst>
              <a:gd name="adj" fmla="val 4396"/>
            </a:avLst>
          </a:prstGeom>
          <a:solidFill>
            <a:srgbClr val="F0FD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" y="3721608"/>
            <a:ext cx="73152" cy="1444752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" y="3685032"/>
            <a:ext cx="5056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4041648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4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Dropout</a:t>
            </a:r>
            <a:pPr indent="0" marL="0">
              <a:buNone/>
            </a:pPr>
            <a:r>
              <a:rPr lang="en-US" sz="14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430" dirty="0"/>
          </a:p>
          <a:p>
            <a:pPr marL="177800" indent="-177800">
              <a:buSzPct val="100000"/>
              <a:buChar char="•"/>
            </a:pPr>
            <a:r>
              <a:rPr lang="en-US" sz="14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LayerNorm</a:t>
            </a:r>
            <a:pPr indent="0" marL="0">
              <a:buNone/>
            </a:pPr>
            <a:r>
              <a:rPr lang="en-US" sz="14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430" dirty="0"/>
          </a:p>
          <a:p>
            <a:pPr marL="177800" indent="-177800">
              <a:buSzPct val="100000"/>
              <a:buChar char="•"/>
            </a:pPr>
            <a:r>
              <a:rPr lang="en-US" sz="14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RMSNorm</a:t>
            </a:r>
            <a:pPr indent="0" marL="0">
              <a:buNone/>
            </a:pPr>
            <a:r>
              <a:rPr lang="en-US" sz="14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430" dirty="0"/>
          </a:p>
          <a:p>
            <a:pPr marL="177800" indent="-177800">
              <a:buSzPct val="100000"/>
              <a:buChar char="•"/>
            </a:pPr>
            <a:r>
              <a:rPr lang="en-US" sz="14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QK-Norm</a:t>
            </a:r>
            <a:endParaRPr lang="en-US" sz="1430" dirty="0"/>
          </a:p>
        </p:txBody>
      </p:sp>
      <p:sp>
        <p:nvSpPr>
          <p:cNvPr id="20" name="Text 18"/>
          <p:cNvSpPr/>
          <p:nvPr/>
        </p:nvSpPr>
        <p:spPr>
          <a:xfrm>
            <a:off x="822960" y="5001768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control activation scale, training stability, and attention score magnitude.</a:t>
            </a:r>
            <a:endParaRPr lang="en-US" sz="1030" dirty="0"/>
          </a:p>
        </p:txBody>
      </p:sp>
      <p:sp>
        <p:nvSpPr>
          <p:cNvPr id="21" name="Shape 19"/>
          <p:cNvSpPr/>
          <p:nvPr/>
        </p:nvSpPr>
        <p:spPr>
          <a:xfrm>
            <a:off x="6199632" y="3611880"/>
            <a:ext cx="5440680" cy="1664208"/>
          </a:xfrm>
          <a:prstGeom prst="roundRect">
            <a:avLst>
              <a:gd name="adj" fmla="val 4396"/>
            </a:avLst>
          </a:prstGeom>
          <a:solidFill>
            <a:srgbClr val="FFFBE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72784" y="3721608"/>
            <a:ext cx="73152" cy="1444752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37376" y="3685032"/>
            <a:ext cx="5056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FeedForward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73952" y="4041648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4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Mixture-of-Experts</a:t>
            </a:r>
            <a:pPr indent="0" marL="0">
              <a:buNone/>
            </a:pPr>
            <a:r>
              <a:rPr lang="en-US" sz="14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430" dirty="0"/>
          </a:p>
          <a:p>
            <a:pPr marL="177800" indent="-177800">
              <a:buSzPct val="100000"/>
              <a:buChar char="•"/>
            </a:pPr>
            <a:r>
              <a:rPr lang="en-US" sz="14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GELU</a:t>
            </a:r>
            <a:pPr indent="0" marL="0">
              <a:buNone/>
            </a:pPr>
            <a:r>
              <a:rPr lang="en-US" sz="14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430" dirty="0"/>
          </a:p>
          <a:p>
            <a:pPr marL="177800" indent="-177800">
              <a:buSzPct val="100000"/>
              <a:buChar char="•"/>
            </a:pPr>
            <a:r>
              <a:rPr lang="en-US" sz="14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SiLU</a:t>
            </a:r>
            <a:pPr indent="0" marL="0">
              <a:buNone/>
            </a:pPr>
            <a:r>
              <a:rPr lang="en-US" sz="14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430" dirty="0"/>
          </a:p>
          <a:p>
            <a:pPr marL="177800" indent="-177800">
              <a:buSzPct val="100000"/>
              <a:buChar char="•"/>
            </a:pPr>
            <a:r>
              <a:rPr lang="en-US" sz="14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SwiGLU</a:t>
            </a:r>
            <a:endParaRPr lang="en-US" sz="1430" dirty="0"/>
          </a:p>
        </p:txBody>
      </p:sp>
      <p:sp>
        <p:nvSpPr>
          <p:cNvPr id="25" name="Text 23"/>
          <p:cNvSpPr/>
          <p:nvPr/>
        </p:nvSpPr>
        <p:spPr>
          <a:xfrm>
            <a:off x="6473952" y="5001768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determine per-token nonlinear transformation and sparse capacity scaling.</a:t>
            </a:r>
            <a:endParaRPr lang="en-US" sz="1030" dirty="0"/>
          </a:p>
        </p:txBody>
      </p:sp>
      <p:sp>
        <p:nvSpPr>
          <p:cNvPr id="26" name="Shape 24"/>
          <p:cNvSpPr/>
          <p:nvPr/>
        </p:nvSpPr>
        <p:spPr>
          <a:xfrm>
            <a:off x="548640" y="5468112"/>
            <a:ext cx="11091672" cy="694944"/>
          </a:xfrm>
          <a:prstGeom prst="roundRect">
            <a:avLst>
              <a:gd name="adj" fmla="val 10526"/>
            </a:avLst>
          </a:prstGeom>
          <a:solidFill>
            <a:srgbClr val="FCFCFD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4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1792" y="5577840"/>
            <a:ext cx="73152" cy="47548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6384" y="5541264"/>
            <a:ext cx="10707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Notation used throughout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04672" y="5833872"/>
            <a:ext cx="10241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B=batch  •  T=sequence length  •  d=model dim  •  H=heads  •  d_h=per-head dim  •  G=KV groups  •  r=latent rank  •  E=experts  •  k=top-k routed experts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 snippets assume: import torch, torch.nn as nn, torch.nn.functional as F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566928" y="6364224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 for lecture_notes/LLMs.pptx • editable PowerPoint deck authored with PptxGenJS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1908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2E8F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Positional Embedding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9217152" y="512064"/>
            <a:ext cx="2423160" cy="274320"/>
          </a:xfrm>
          <a:prstGeom prst="roundRect">
            <a:avLst>
              <a:gd name="adj" fmla="val 40000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326880" y="56235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&amp; order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85216" y="84124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original Transformer paper uses fixed sinusoidal positional encodings, added to token embeddings at the bottoms of the encoder and decoder stacks.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5486400" cy="1225296"/>
          </a:xfrm>
          <a:prstGeom prst="roundRect">
            <a:avLst>
              <a:gd name="adj" fmla="val 5970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30352" y="1280160"/>
            <a:ext cx="73152" cy="100584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1243584"/>
            <a:ext cx="5102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 formula / tensor contract</a:t>
            </a:r>
            <a:endParaRPr lang="en-US" sz="1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8368" y="1634044"/>
            <a:ext cx="5084064" cy="27978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8368" y="2075688"/>
            <a:ext cx="5084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Attention Is All You Need, the stack input is √d_model · token_embedding + PE, with PE shared across the batch.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57200" y="2578608"/>
            <a:ext cx="548640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21792" y="2651760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Shape-aware diagram</a:t>
            </a:r>
            <a:endParaRPr lang="en-US" sz="12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6928" y="2907792"/>
            <a:ext cx="5266944" cy="294436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263640" y="1170432"/>
            <a:ext cx="5470855" cy="4928616"/>
          </a:xfrm>
          <a:prstGeom prst="roundRect">
            <a:avLst>
              <a:gd name="adj" fmla="val 1484"/>
            </a:avLst>
          </a:prstGeom>
          <a:solidFill>
            <a:srgbClr val="0F172A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36792" y="1280160"/>
            <a:ext cx="73152" cy="470916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501384" y="1243584"/>
            <a:ext cx="50868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 implementation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428232" y="1481328"/>
            <a:ext cx="5141671" cy="4462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SinusoidalPositionalEncoding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__init__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d_model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max_len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5000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__init__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position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torch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arange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max_len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unsqueeze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div_term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torch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torch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arange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d_model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torch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torch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tensor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10000.0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d_model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pe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torch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zeros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max_len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d_model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torch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div_term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torch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div_term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register_buffer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'pe'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unsqueeze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</a:t>
            </a:r>
            <a:pPr indent="0" marL="0">
              <a:buNone/>
            </a:pP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forward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tok_emb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tok_emb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tok_emb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tok_emb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**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tok_emb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tok_emb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940" dirty="0"/>
          </a:p>
        </p:txBody>
      </p:sp>
      <p:sp>
        <p:nvSpPr>
          <p:cNvPr id="18" name="Text 14"/>
          <p:cNvSpPr/>
          <p:nvPr/>
        </p:nvSpPr>
        <p:spPr>
          <a:xfrm>
            <a:off x="566928" y="6181344"/>
            <a:ext cx="10789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Shapes: token ids [B,T], token embeddings [B,T,d_model], sinusoidal PE table [T,d_model], stack input [B,T,d_model].</a:t>
            </a:r>
            <a:endParaRPr lang="en-US" sz="920" dirty="0"/>
          </a:p>
        </p:txBody>
      </p:sp>
      <p:sp>
        <p:nvSpPr>
          <p:cNvPr id="19" name="Text 15"/>
          <p:cNvSpPr/>
          <p:nvPr/>
        </p:nvSpPr>
        <p:spPr>
          <a:xfrm>
            <a:off x="566928" y="6355080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Introduced in: Vaswani et al., Attention Is All You Need (2017)   •   Used in: GPT-2, BERT, GPT-3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1908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2E8F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RoPE (Rotary Position Embeddings)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9217152" y="512064"/>
            <a:ext cx="2423160" cy="274320"/>
          </a:xfrm>
          <a:prstGeom prst="roundRect">
            <a:avLst>
              <a:gd name="adj" fmla="val 40000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326880" y="56235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&amp; order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85216" y="84124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Rotates paired Q/K coordinates by position-dependent angles, turning dot products into a relative-position-aware similarity measure.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5486400" cy="1225296"/>
          </a:xfrm>
          <a:prstGeom prst="roundRect">
            <a:avLst>
              <a:gd name="adj" fmla="val 5970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30352" y="1280160"/>
            <a:ext cx="73152" cy="100584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1243584"/>
            <a:ext cx="5102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 formula / tensor contract</a:t>
            </a:r>
            <a:endParaRPr lang="en-US" sz="1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5946" y="1545336"/>
            <a:ext cx="4448908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8368" y="2075688"/>
            <a:ext cx="5084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RoPE is applied after Q/K projection and before computing attention scores.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57200" y="2578608"/>
            <a:ext cx="548640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21792" y="2651760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Shape-aware diagram</a:t>
            </a:r>
            <a:endParaRPr lang="en-US" sz="12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6928" y="2907792"/>
            <a:ext cx="5266944" cy="294436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263640" y="1170432"/>
            <a:ext cx="5470855" cy="4928616"/>
          </a:xfrm>
          <a:prstGeom prst="roundRect">
            <a:avLst>
              <a:gd name="adj" fmla="val 1484"/>
            </a:avLst>
          </a:prstGeom>
          <a:solidFill>
            <a:srgbClr val="0F172A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36792" y="1280160"/>
            <a:ext cx="73152" cy="470916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501384" y="1243584"/>
            <a:ext cx="50868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 implementation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428232" y="1481328"/>
            <a:ext cx="5141671" cy="4462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apply_rope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cos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sin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x1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x2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rot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torch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x2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x1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dim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flatten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cos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rot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sin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</a:t>
            </a:r>
            <a:pPr indent="0" marL="0">
              <a:buNone/>
            </a:pP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apply_rope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cos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sin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[B,H,T,d_h]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apply_rope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cos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sin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[B,H,T,d_h]</a:t>
            </a:r>
            <a:endParaRPr lang="en-US" sz="940" dirty="0"/>
          </a:p>
        </p:txBody>
      </p:sp>
      <p:sp>
        <p:nvSpPr>
          <p:cNvPr id="18" name="Text 14"/>
          <p:cNvSpPr/>
          <p:nvPr/>
        </p:nvSpPr>
        <p:spPr>
          <a:xfrm>
            <a:off x="566928" y="6181344"/>
            <a:ext cx="10789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Shapes: Q,K [B,H,T,d_h], angle table [T,d_h/2], rotated Q/K keep the same shape, scores [B,H,T,T].</a:t>
            </a:r>
            <a:endParaRPr lang="en-US" sz="920" dirty="0"/>
          </a:p>
        </p:txBody>
      </p:sp>
      <p:sp>
        <p:nvSpPr>
          <p:cNvPr id="19" name="Text 15"/>
          <p:cNvSpPr/>
          <p:nvPr/>
        </p:nvSpPr>
        <p:spPr>
          <a:xfrm>
            <a:off x="566928" y="6355080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Introduced in: Su et al., RoFormer (2021)   •   Used in: LLaMA/Llama 2/3, DeepSeek-V2/V3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1908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2E8F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ALiBi (Attention with Linear Biases)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9217152" y="512064"/>
            <a:ext cx="2423160" cy="274320"/>
          </a:xfrm>
          <a:prstGeom prst="roundRect">
            <a:avLst>
              <a:gd name="adj" fmla="val 40000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326880" y="56235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&amp; order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85216" y="84124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Adds a head-specific linear distance penalty directly to attention scores so the model can represent recency bias without explicit positional vectors.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5486400" cy="1225296"/>
          </a:xfrm>
          <a:prstGeom prst="roundRect">
            <a:avLst>
              <a:gd name="adj" fmla="val 5970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30352" y="1280160"/>
            <a:ext cx="73152" cy="100584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1243584"/>
            <a:ext cx="5102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 formula / tensor contract</a:t>
            </a:r>
            <a:endParaRPr lang="en-US" sz="1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68905" y="1545336"/>
            <a:ext cx="2662989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8368" y="2075688"/>
            <a:ext cx="5084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heads use different slopes m_h, giving a spectrum from local to more global attention bias.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57200" y="2578608"/>
            <a:ext cx="548640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21792" y="2651760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Shape-aware diagram</a:t>
            </a:r>
            <a:endParaRPr lang="en-US" sz="12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6928" y="2907792"/>
            <a:ext cx="5266944" cy="294436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263640" y="1170432"/>
            <a:ext cx="5470855" cy="4928616"/>
          </a:xfrm>
          <a:prstGeom prst="roundRect">
            <a:avLst>
              <a:gd name="adj" fmla="val 1484"/>
            </a:avLst>
          </a:prstGeom>
          <a:solidFill>
            <a:srgbClr val="0F172A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36792" y="1280160"/>
            <a:ext cx="73152" cy="470916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501384" y="1243584"/>
            <a:ext cx="50868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 implementation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428232" y="1481328"/>
            <a:ext cx="5141671" cy="4462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alibi_attention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k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slopes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q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shape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pos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torch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arange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device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dist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AE8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pos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940" dirty="0">
                <a:solidFill>
                  <a:srgbClr val="AE8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clamp_min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[T,T]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bias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slopes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AE8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AE8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dist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unsqueeze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[H,T,T]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scores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q @ k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transpose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**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scores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scores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bias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unsqueeze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weights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scores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softmax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weights @ v</a:t>
            </a:r>
            <a:endParaRPr lang="en-US" sz="940" dirty="0"/>
          </a:p>
        </p:txBody>
      </p:sp>
      <p:sp>
        <p:nvSpPr>
          <p:cNvPr id="18" name="Text 14"/>
          <p:cNvSpPr/>
          <p:nvPr/>
        </p:nvSpPr>
        <p:spPr>
          <a:xfrm>
            <a:off x="566928" y="6181344"/>
            <a:ext cx="10789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Shapes: Q,K [B,H,T,d_h], raw scores [B,H,T,T], ALiBi bias [H,T,T], biased scores [B,H,T,T].</a:t>
            </a:r>
            <a:endParaRPr lang="en-US" sz="920" dirty="0"/>
          </a:p>
        </p:txBody>
      </p:sp>
      <p:sp>
        <p:nvSpPr>
          <p:cNvPr id="19" name="Text 15"/>
          <p:cNvSpPr/>
          <p:nvPr/>
        </p:nvSpPr>
        <p:spPr>
          <a:xfrm>
            <a:off x="566928" y="6355080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Introduced in: Press et al., Train Short, Test Long (2021)   •   Used in: BLOOM, MPT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1908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2E8F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NoPE (No Positional Embeddings)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9217152" y="512064"/>
            <a:ext cx="2423160" cy="274320"/>
          </a:xfrm>
          <a:prstGeom prst="roundRect">
            <a:avLst>
              <a:gd name="adj" fmla="val 40000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326880" y="56235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&amp; order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85216" y="84124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Removes explicit positional signals entirely; order then must emerge from masking, data statistics, or other architectural biases.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5486400" cy="1225296"/>
          </a:xfrm>
          <a:prstGeom prst="roundRect">
            <a:avLst>
              <a:gd name="adj" fmla="val 5970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30352" y="1280160"/>
            <a:ext cx="73152" cy="100584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1243584"/>
            <a:ext cx="5102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 formula / tensor contract</a:t>
            </a:r>
            <a:endParaRPr lang="en-US" sz="1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6449" y="1545336"/>
            <a:ext cx="4907902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8368" y="2075688"/>
            <a:ext cx="5084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attention rule is unchanged, but there is no learned/sinusoidal/rotary positional term.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57200" y="2578608"/>
            <a:ext cx="548640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21792" y="2651760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Shape-aware diagram</a:t>
            </a:r>
            <a:endParaRPr lang="en-US" sz="12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6928" y="2907792"/>
            <a:ext cx="5266944" cy="294436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263640" y="1170432"/>
            <a:ext cx="5470855" cy="4928616"/>
          </a:xfrm>
          <a:prstGeom prst="roundRect">
            <a:avLst>
              <a:gd name="adj" fmla="val 1484"/>
            </a:avLst>
          </a:prstGeom>
          <a:solidFill>
            <a:srgbClr val="0F172A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36792" y="1280160"/>
            <a:ext cx="73152" cy="470916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501384" y="1243584"/>
            <a:ext cx="50868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 implementation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428232" y="1481328"/>
            <a:ext cx="5141671" cy="4462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nope_attention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wq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wk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wv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mask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AE8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wq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[B,T,H*d_h]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wk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wv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scores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q @ k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transpose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q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**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mask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AE8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scores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scores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masked_fill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mask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'-inf'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scores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softmax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@ v</a:t>
            </a:r>
            <a:endParaRPr lang="en-US" sz="940" dirty="0"/>
          </a:p>
        </p:txBody>
      </p:sp>
      <p:sp>
        <p:nvSpPr>
          <p:cNvPr id="18" name="Text 14"/>
          <p:cNvSpPr/>
          <p:nvPr/>
        </p:nvSpPr>
        <p:spPr>
          <a:xfrm>
            <a:off x="566928" y="6181344"/>
            <a:ext cx="10789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Shapes: X [B,T,d], Q/K/V [B,H,T,d_h], scores [B,H,T,T], output [B,T,d].</a:t>
            </a:r>
            <a:endParaRPr lang="en-US" sz="920" dirty="0"/>
          </a:p>
        </p:txBody>
      </p:sp>
      <p:sp>
        <p:nvSpPr>
          <p:cNvPr id="19" name="Text 15"/>
          <p:cNvSpPr/>
          <p:nvPr/>
        </p:nvSpPr>
        <p:spPr>
          <a:xfrm>
            <a:off x="566928" y="6355080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Introduced in: Haviv et al., Transformer LMs without Positional Encodings... (2022)   •   Used in: Mostly research decoder-only LMs; uncommon in mainstream frontier LLMs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1908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2E8F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Dropout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9217152" y="512064"/>
            <a:ext cx="2423160" cy="274320"/>
          </a:xfrm>
          <a:prstGeom prst="roundRect">
            <a:avLst>
              <a:gd name="adj" fmla="val 40000"/>
            </a:avLst>
          </a:prstGeom>
          <a:solidFill>
            <a:srgbClr val="ECFE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326880" y="56235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Normalization &amp; score shaping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85216" y="84124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Randomly drops activations during training and rescales the survivors, reducing co-adaptation and overfitting.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5486400" cy="1225296"/>
          </a:xfrm>
          <a:prstGeom prst="roundRect">
            <a:avLst>
              <a:gd name="adj" fmla="val 5970"/>
            </a:avLst>
          </a:prstGeom>
          <a:solidFill>
            <a:srgbClr val="F0FD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30352" y="1280160"/>
            <a:ext cx="73152" cy="1005840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1243584"/>
            <a:ext cx="5102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 formula / tensor contract</a:t>
            </a:r>
            <a:endParaRPr lang="en-US" sz="1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60449" y="1545336"/>
            <a:ext cx="3679902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8368" y="2075688"/>
            <a:ext cx="5084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evaluation time, dropout is disabled and the identity map is used.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57200" y="2578608"/>
            <a:ext cx="548640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21792" y="2651760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Shape-aware diagram</a:t>
            </a:r>
            <a:endParaRPr lang="en-US" sz="12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6928" y="2907792"/>
            <a:ext cx="5266944" cy="294436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263640" y="1170432"/>
            <a:ext cx="5470855" cy="4928616"/>
          </a:xfrm>
          <a:prstGeom prst="roundRect">
            <a:avLst>
              <a:gd name="adj" fmla="val 1484"/>
            </a:avLst>
          </a:prstGeom>
          <a:solidFill>
            <a:srgbClr val="0F172A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36792" y="1280160"/>
            <a:ext cx="73152" cy="4709160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501384" y="1243584"/>
            <a:ext cx="50868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 implementation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428232" y="1481328"/>
            <a:ext cx="5141671" cy="4462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DropoutBlock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__init__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__init__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Dropout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</a:t>
            </a:r>
            <a:pPr indent="0" marL="0">
              <a:buNone/>
            </a:pP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forward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40" dirty="0"/>
          </a:p>
        </p:txBody>
      </p:sp>
      <p:sp>
        <p:nvSpPr>
          <p:cNvPr id="18" name="Text 14"/>
          <p:cNvSpPr/>
          <p:nvPr/>
        </p:nvSpPr>
        <p:spPr>
          <a:xfrm>
            <a:off x="566928" y="6181344"/>
            <a:ext cx="10789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Shapes: x, mask, y all share the same tensor shape, often [B,T,d] or [B,H,T,T] in attention dropout.</a:t>
            </a:r>
            <a:endParaRPr lang="en-US" sz="920" dirty="0"/>
          </a:p>
        </p:txBody>
      </p:sp>
      <p:sp>
        <p:nvSpPr>
          <p:cNvPr id="19" name="Text 15"/>
          <p:cNvSpPr/>
          <p:nvPr/>
        </p:nvSpPr>
        <p:spPr>
          <a:xfrm>
            <a:off x="566928" y="6355080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Introduced in: Srivastava et al., Dropout (2014)   •   Used in: Transformer, BERT, GPT-2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1908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2E8F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LayerNorm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9217152" y="512064"/>
            <a:ext cx="2423160" cy="274320"/>
          </a:xfrm>
          <a:prstGeom prst="roundRect">
            <a:avLst>
              <a:gd name="adj" fmla="val 40000"/>
            </a:avLst>
          </a:prstGeom>
          <a:solidFill>
            <a:srgbClr val="ECFE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326880" y="56235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Normalization &amp; score shaping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85216" y="84124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Normalizes each token across its feature dimension using mean and variance, then applies learned affine parameters.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5486400" cy="1225296"/>
          </a:xfrm>
          <a:prstGeom prst="roundRect">
            <a:avLst>
              <a:gd name="adj" fmla="val 5970"/>
            </a:avLst>
          </a:prstGeom>
          <a:solidFill>
            <a:srgbClr val="F0FD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30352" y="1280160"/>
            <a:ext cx="73152" cy="1005840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1243584"/>
            <a:ext cx="5102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 formula / tensor contract</a:t>
            </a:r>
            <a:endParaRPr lang="en-US" sz="1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26227" y="1545336"/>
            <a:ext cx="2348345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8368" y="2075688"/>
            <a:ext cx="5084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Transformers, μ and σ² are computed over the last dimension d for each token independently.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57200" y="2578608"/>
            <a:ext cx="548640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21792" y="2651760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Shape-aware diagram</a:t>
            </a:r>
            <a:endParaRPr lang="en-US" sz="12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6928" y="2907792"/>
            <a:ext cx="5266944" cy="294436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263640" y="1170432"/>
            <a:ext cx="5470855" cy="4928616"/>
          </a:xfrm>
          <a:prstGeom prst="roundRect">
            <a:avLst>
              <a:gd name="adj" fmla="val 1484"/>
            </a:avLst>
          </a:prstGeom>
          <a:solidFill>
            <a:srgbClr val="0F172A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36792" y="1280160"/>
            <a:ext cx="73152" cy="4709160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501384" y="1243584"/>
            <a:ext cx="50868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 implementation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428232" y="1481328"/>
            <a:ext cx="5141671" cy="4462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LayerNormLastDim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__init__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eps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1e-5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__init__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gamma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Parameter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torch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ones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beta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Parameter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torch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zeros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eps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eps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</a:t>
            </a:r>
            <a:pPr indent="0" marL="0">
              <a:buNone/>
            </a:pP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forward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mean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keepdim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AE8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var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keepdim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AE8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unbiased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AE8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x_hat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mean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torch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sqrt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eps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gamma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x_hat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beta</a:t>
            </a:r>
            <a:endParaRPr lang="en-US" sz="940" dirty="0"/>
          </a:p>
        </p:txBody>
      </p:sp>
      <p:sp>
        <p:nvSpPr>
          <p:cNvPr id="18" name="Text 14"/>
          <p:cNvSpPr/>
          <p:nvPr/>
        </p:nvSpPr>
        <p:spPr>
          <a:xfrm>
            <a:off x="566928" y="6181344"/>
            <a:ext cx="10789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Shapes: x,y [B,T,d]; mean and variance are [B,T,1]; γ and β are [d].</a:t>
            </a:r>
            <a:endParaRPr lang="en-US" sz="920" dirty="0"/>
          </a:p>
        </p:txBody>
      </p:sp>
      <p:sp>
        <p:nvSpPr>
          <p:cNvPr id="19" name="Text 15"/>
          <p:cNvSpPr/>
          <p:nvPr/>
        </p:nvSpPr>
        <p:spPr>
          <a:xfrm>
            <a:off x="566928" y="6355080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Introduced in: Ba et al., Layer Normalization (2016)   •   Used in: Transformer, BERT, GPT-2, OPT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1908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2E8F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RMSNorm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9217152" y="512064"/>
            <a:ext cx="2423160" cy="274320"/>
          </a:xfrm>
          <a:prstGeom prst="roundRect">
            <a:avLst>
              <a:gd name="adj" fmla="val 40000"/>
            </a:avLst>
          </a:prstGeom>
          <a:solidFill>
            <a:srgbClr val="ECFE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326880" y="56235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Normalization &amp; score shaping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85216" y="84124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Normalizes only by root-mean-square magnitude and omits mean subtraction, which is cheaper and popular in modern LLMs.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5486400" cy="1225296"/>
          </a:xfrm>
          <a:prstGeom prst="roundRect">
            <a:avLst>
              <a:gd name="adj" fmla="val 5970"/>
            </a:avLst>
          </a:prstGeom>
          <a:solidFill>
            <a:srgbClr val="F0FD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30352" y="1280160"/>
            <a:ext cx="73152" cy="1005840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1243584"/>
            <a:ext cx="5102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 formula / tensor contract</a:t>
            </a:r>
            <a:endParaRPr lang="en-US" sz="1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09011" y="1545336"/>
            <a:ext cx="2582779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8368" y="2075688"/>
            <a:ext cx="5084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RMSNorm keeps the direction of x but rescales its RMS magnitude on the last dimension.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57200" y="2578608"/>
            <a:ext cx="548640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21792" y="2651760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Shape-aware diagram</a:t>
            </a:r>
            <a:endParaRPr lang="en-US" sz="12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6928" y="2907792"/>
            <a:ext cx="5266944" cy="294436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263640" y="1170432"/>
            <a:ext cx="5470855" cy="4928616"/>
          </a:xfrm>
          <a:prstGeom prst="roundRect">
            <a:avLst>
              <a:gd name="adj" fmla="val 1484"/>
            </a:avLst>
          </a:prstGeom>
          <a:solidFill>
            <a:srgbClr val="0F172A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36792" y="1280160"/>
            <a:ext cx="73152" cy="4709160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501384" y="1243584"/>
            <a:ext cx="50868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 implementation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428232" y="1481328"/>
            <a:ext cx="5141671" cy="4462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RMSNorm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__init__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eps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1e-6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__init__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weight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Parameter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torch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ones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eps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eps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</a:t>
            </a:r>
            <a:pPr indent="0" marL="0">
              <a:buNone/>
            </a:pP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forward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rms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torch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rsqrt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pow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keepdim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AE8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eps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rms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weight</a:t>
            </a:r>
            <a:endParaRPr lang="en-US" sz="940" dirty="0"/>
          </a:p>
        </p:txBody>
      </p:sp>
      <p:sp>
        <p:nvSpPr>
          <p:cNvPr id="18" name="Text 14"/>
          <p:cNvSpPr/>
          <p:nvPr/>
        </p:nvSpPr>
        <p:spPr>
          <a:xfrm>
            <a:off x="566928" y="6181344"/>
            <a:ext cx="10789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Shapes: x,y [B,T,d]; rms factor [B,T,1]; learned scale γ [d].</a:t>
            </a:r>
            <a:endParaRPr lang="en-US" sz="920" dirty="0"/>
          </a:p>
        </p:txBody>
      </p:sp>
      <p:sp>
        <p:nvSpPr>
          <p:cNvPr id="19" name="Text 15"/>
          <p:cNvSpPr/>
          <p:nvPr/>
        </p:nvSpPr>
        <p:spPr>
          <a:xfrm>
            <a:off x="566928" y="6355080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Introduced in: Zhang &amp; Sennrich, RMSNorm (2019)   •   Used in: LLaMA/Llama 2, Mistral, OpenELM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1908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2E8F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Scaled Dot-Product Attention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9217152" y="512064"/>
            <a:ext cx="2423160" cy="274320"/>
          </a:xfrm>
          <a:prstGeom prst="roundRect">
            <a:avLst>
              <a:gd name="adj" fmla="val 40000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326880" y="56235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&amp; inference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85216" y="84124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attention operator: compare queries against keys, normalize with softmax, then aggregate values.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5486400" cy="1225296"/>
          </a:xfrm>
          <a:prstGeom prst="roundRect">
            <a:avLst>
              <a:gd name="adj" fmla="val 5970"/>
            </a:avLst>
          </a:prstGeom>
          <a:solidFill>
            <a:srgbClr val="FAF5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30352" y="1280160"/>
            <a:ext cx="73152" cy="100584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1243584"/>
            <a:ext cx="5102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 formula / tensor contract</a:t>
            </a:r>
            <a:endParaRPr lang="en-US" sz="1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25555" y="1545336"/>
            <a:ext cx="334969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8368" y="2075688"/>
            <a:ext cx="5084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mask M is often causal and/or padded; scores are normalized along the key axis.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57200" y="2578608"/>
            <a:ext cx="548640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21792" y="2651760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Shape-aware diagram</a:t>
            </a:r>
            <a:endParaRPr lang="en-US" sz="12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6928" y="2907792"/>
            <a:ext cx="5266944" cy="294436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263640" y="1170432"/>
            <a:ext cx="5470855" cy="4928616"/>
          </a:xfrm>
          <a:prstGeom prst="roundRect">
            <a:avLst>
              <a:gd name="adj" fmla="val 1484"/>
            </a:avLst>
          </a:prstGeom>
          <a:solidFill>
            <a:srgbClr val="0F172A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36792" y="1280160"/>
            <a:ext cx="73152" cy="470916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501384" y="1243584"/>
            <a:ext cx="50868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 implementation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428232" y="1481328"/>
            <a:ext cx="5141671" cy="4462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scaled_dot_product_attention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k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mask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AE8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d_h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q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scores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q @ k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transpose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d_h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**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mask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AE8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scores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scores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masked_fill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mask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'-inf'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weights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scores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softmax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weights @ v</a:t>
            </a:r>
            <a:endParaRPr lang="en-US" sz="940" dirty="0"/>
          </a:p>
        </p:txBody>
      </p:sp>
      <p:sp>
        <p:nvSpPr>
          <p:cNvPr id="18" name="Text 14"/>
          <p:cNvSpPr/>
          <p:nvPr/>
        </p:nvSpPr>
        <p:spPr>
          <a:xfrm>
            <a:off x="566928" y="6181344"/>
            <a:ext cx="10789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Shapes: Q [B,H,T_q,d_h], K [B,H,T_k,d_h], V [B,H,T_k,d_v], output [B,H,T_q,d_v].</a:t>
            </a:r>
            <a:endParaRPr lang="en-US" sz="920" dirty="0"/>
          </a:p>
        </p:txBody>
      </p:sp>
      <p:sp>
        <p:nvSpPr>
          <p:cNvPr id="19" name="Text 15"/>
          <p:cNvSpPr/>
          <p:nvPr/>
        </p:nvSpPr>
        <p:spPr>
          <a:xfrm>
            <a:off x="566928" y="6355080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Introduced in: Vaswani et al., Attention Is All You Need (2017)   •   Used in: BERT, GPT-2, Llama 2/3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1908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2E8F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 Attention (MHA)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9217152" y="512064"/>
            <a:ext cx="2423160" cy="274320"/>
          </a:xfrm>
          <a:prstGeom prst="roundRect">
            <a:avLst>
              <a:gd name="adj" fmla="val 40000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326880" y="56235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&amp; inference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85216" y="84124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 Q/K/V into multiple subspaces, runs attention independently in each head, then concatenates the results.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5486400" cy="1225296"/>
          </a:xfrm>
          <a:prstGeom prst="roundRect">
            <a:avLst>
              <a:gd name="adj" fmla="val 5970"/>
            </a:avLst>
          </a:prstGeom>
          <a:solidFill>
            <a:srgbClr val="FAF5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30352" y="1280160"/>
            <a:ext cx="73152" cy="100584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1243584"/>
            <a:ext cx="5102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 formula / tensor contract</a:t>
            </a:r>
            <a:endParaRPr lang="en-US" sz="1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8368" y="1696658"/>
            <a:ext cx="5084064" cy="1545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8368" y="2075688"/>
            <a:ext cx="5084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head gets its own learned projections and can specialize to different patterns.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57200" y="2578608"/>
            <a:ext cx="548640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21792" y="2651760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Shape-aware diagram</a:t>
            </a:r>
            <a:endParaRPr lang="en-US" sz="12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6928" y="2907792"/>
            <a:ext cx="5266944" cy="294436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263640" y="1170432"/>
            <a:ext cx="5470855" cy="4928616"/>
          </a:xfrm>
          <a:prstGeom prst="roundRect">
            <a:avLst>
              <a:gd name="adj" fmla="val 1484"/>
            </a:avLst>
          </a:prstGeom>
          <a:solidFill>
            <a:srgbClr val="0F172A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36792" y="1280160"/>
            <a:ext cx="73152" cy="470916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501384" y="1243584"/>
            <a:ext cx="50868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 implementation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428232" y="1481328"/>
            <a:ext cx="5141671" cy="4462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MultiHeadAttention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__init__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d_model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num_heads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__init__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num_heads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d_h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d_model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num_heads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qkv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Linear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d_model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d_model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Linear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d_model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d_model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</a:t>
            </a:r>
            <a:pPr indent="0" marL="0">
              <a:buNone/>
            </a:pP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forward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shape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q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k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qkv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chunk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dim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q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q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d_h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transpose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k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k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d_h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transpose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d_h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transpose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y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scaled_dot_product_attention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k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y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y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transpose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reshape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40" dirty="0"/>
          </a:p>
        </p:txBody>
      </p:sp>
      <p:sp>
        <p:nvSpPr>
          <p:cNvPr id="18" name="Text 14"/>
          <p:cNvSpPr/>
          <p:nvPr/>
        </p:nvSpPr>
        <p:spPr>
          <a:xfrm>
            <a:off x="566928" y="6181344"/>
            <a:ext cx="10789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Shapes: X [B,T,d], Q/K/V [B,H,T,d_h], concat [B,T,H·d_h], projected output [B,T,d].</a:t>
            </a:r>
            <a:endParaRPr lang="en-US" sz="920" dirty="0"/>
          </a:p>
        </p:txBody>
      </p:sp>
      <p:sp>
        <p:nvSpPr>
          <p:cNvPr id="19" name="Text 15"/>
          <p:cNvSpPr/>
          <p:nvPr/>
        </p:nvSpPr>
        <p:spPr>
          <a:xfrm>
            <a:off x="566928" y="6355080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Introduced in: Vaswani et al., Attention Is All You Need (2017)   •   Used in: Transformer, BERT, GPT-2/3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1908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2E8F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Multi-Query Attention (MQA)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9217152" y="512064"/>
            <a:ext cx="2423160" cy="274320"/>
          </a:xfrm>
          <a:prstGeom prst="roundRect">
            <a:avLst>
              <a:gd name="adj" fmla="val 40000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326880" y="56235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&amp; inference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85216" y="84124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many query heads but a single shared key/value head, giving the smallest KV cache among standard attention-sharing variants.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5486400" cy="1225296"/>
          </a:xfrm>
          <a:prstGeom prst="roundRect">
            <a:avLst>
              <a:gd name="adj" fmla="val 5970"/>
            </a:avLst>
          </a:prstGeom>
          <a:solidFill>
            <a:srgbClr val="FAF5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30352" y="1280160"/>
            <a:ext cx="73152" cy="100584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1243584"/>
            <a:ext cx="5102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 formula / tensor contract</a:t>
            </a:r>
            <a:endParaRPr lang="en-US" sz="1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8368" y="1645823"/>
            <a:ext cx="5084064" cy="25622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8368" y="2075688"/>
            <a:ext cx="5084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MQA is the extreme sharing case: all query heads reuse the same K and V tensors.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57200" y="2578608"/>
            <a:ext cx="548640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21792" y="2651760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Shape-aware diagram</a:t>
            </a:r>
            <a:endParaRPr lang="en-US" sz="12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6928" y="2907792"/>
            <a:ext cx="5266944" cy="294436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263640" y="1170432"/>
            <a:ext cx="5470855" cy="4928616"/>
          </a:xfrm>
          <a:prstGeom prst="roundRect">
            <a:avLst>
              <a:gd name="adj" fmla="val 1484"/>
            </a:avLst>
          </a:prstGeom>
          <a:solidFill>
            <a:srgbClr val="0F172A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36792" y="1280160"/>
            <a:ext cx="73152" cy="470916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501384" y="1243584"/>
            <a:ext cx="50868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 implementation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428232" y="1481328"/>
            <a:ext cx="5141671" cy="4462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MultiQueryAttention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__init__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d_model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num_heads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__init__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num_heads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d_h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d_model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num_heads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wq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Linear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d_model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num_heads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d_h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wk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Linear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d_model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d_h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wv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Linear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d_model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d_h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 </a:t>
            </a:r>
            <a:pPr indent="0" marL="0">
              <a:buNone/>
            </a:pP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forward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_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shape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q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wq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d_h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transpose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k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wk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unsqueeze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[B,1,T,d_h]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wv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unsqueeze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y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scaled_dot_product_attention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k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expand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expand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y</a:t>
            </a:r>
            <a:endParaRPr lang="en-US" sz="940" dirty="0"/>
          </a:p>
        </p:txBody>
      </p:sp>
      <p:sp>
        <p:nvSpPr>
          <p:cNvPr id="18" name="Text 14"/>
          <p:cNvSpPr/>
          <p:nvPr/>
        </p:nvSpPr>
        <p:spPr>
          <a:xfrm>
            <a:off x="566928" y="6181344"/>
            <a:ext cx="10789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Shapes: Q [B,H,T,d_h], K/V [B,1,T,d_h], expanded shared KV [B,H,T,d_h], output [B,T,d].</a:t>
            </a:r>
            <a:endParaRPr lang="en-US" sz="920" dirty="0"/>
          </a:p>
        </p:txBody>
      </p:sp>
      <p:sp>
        <p:nvSpPr>
          <p:cNvPr id="19" name="Text 15"/>
          <p:cNvSpPr/>
          <p:nvPr/>
        </p:nvSpPr>
        <p:spPr>
          <a:xfrm>
            <a:off x="566928" y="6355080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Introduced in: Shazeer, Fast Transformer Decoding (2019)   •   Used in: PaLM, Falcon, StarCoder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1908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2E8F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Grouped-Query Attention (GQA)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9217152" y="512064"/>
            <a:ext cx="2423160" cy="274320"/>
          </a:xfrm>
          <a:prstGeom prst="roundRect">
            <a:avLst>
              <a:gd name="adj" fmla="val 40000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326880" y="56235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&amp; inference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85216" y="84124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many query heads but fewer K/V groups, reducing KV-cache memory and decode bandwidth while keeping more query diversity than MQA.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5486400" cy="1225296"/>
          </a:xfrm>
          <a:prstGeom prst="roundRect">
            <a:avLst>
              <a:gd name="adj" fmla="val 5970"/>
            </a:avLst>
          </a:prstGeom>
          <a:solidFill>
            <a:srgbClr val="FAF5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30352" y="1280160"/>
            <a:ext cx="73152" cy="100584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1243584"/>
            <a:ext cx="5102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 formula / tensor contract</a:t>
            </a:r>
            <a:endParaRPr lang="en-US" sz="1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8368" y="1627682"/>
            <a:ext cx="5084064" cy="2925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8368" y="2075688"/>
            <a:ext cx="5084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head h maps to one KV group g(h); each group is shared across several heads.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57200" y="2578608"/>
            <a:ext cx="548640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21792" y="2651760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Shape-aware diagram</a:t>
            </a:r>
            <a:endParaRPr lang="en-US" sz="12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6928" y="2907792"/>
            <a:ext cx="5266944" cy="294436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263640" y="1170432"/>
            <a:ext cx="5470855" cy="4928616"/>
          </a:xfrm>
          <a:prstGeom prst="roundRect">
            <a:avLst>
              <a:gd name="adj" fmla="val 1484"/>
            </a:avLst>
          </a:prstGeom>
          <a:solidFill>
            <a:srgbClr val="0F172A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36792" y="1280160"/>
            <a:ext cx="73152" cy="470916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501384" y="1243584"/>
            <a:ext cx="50868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 implementation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428232" y="1481328"/>
            <a:ext cx="5141671" cy="4462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GroupedQueryAttention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__init__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d_model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num_q_heads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num_kv_groups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__init__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num_q_heads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num_kv_groups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d_h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d_model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num_q_heads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wq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Linear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d_model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d_h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wk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Linear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d_model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d_h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wv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Linear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d_model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d_h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</a:t>
            </a:r>
            <a:pPr indent="0" marL="0">
              <a:buNone/>
            </a:pP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forward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_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shape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q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wq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d_h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transpose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k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wk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d_h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transpose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wv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d_h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transpose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repeat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k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k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repeat_interleave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repeat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dim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repeat_interleave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repeat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dim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scaled_dot_product_attention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k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40" dirty="0"/>
          </a:p>
        </p:txBody>
      </p:sp>
      <p:sp>
        <p:nvSpPr>
          <p:cNvPr id="18" name="Text 14"/>
          <p:cNvSpPr/>
          <p:nvPr/>
        </p:nvSpPr>
        <p:spPr>
          <a:xfrm>
            <a:off x="566928" y="6181344"/>
            <a:ext cx="10789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Shapes: Q [B,H,T,d_h], K/V [B,G,T,d_h], repeated KV after sharing [B,H,T,d_h], output [B,T,d].</a:t>
            </a:r>
            <a:endParaRPr lang="en-US" sz="920" dirty="0"/>
          </a:p>
        </p:txBody>
      </p:sp>
      <p:sp>
        <p:nvSpPr>
          <p:cNvPr id="19" name="Text 15"/>
          <p:cNvSpPr/>
          <p:nvPr/>
        </p:nvSpPr>
        <p:spPr>
          <a:xfrm>
            <a:off x="566928" y="6355080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Introduced in: Ainslie et al., GQA (2023)   •   Used in: Llama 2 70B, Llama 3, OpenELM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1908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2E8F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 Latent Attention (MLA)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9217152" y="512064"/>
            <a:ext cx="2423160" cy="274320"/>
          </a:xfrm>
          <a:prstGeom prst="roundRect">
            <a:avLst>
              <a:gd name="adj" fmla="val 40000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326880" y="56235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&amp; inference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85216" y="84124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Compresses KV information into a lower-rank latent state, then reconstructs or expands head-specific K/V features from that compact cache.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5486400" cy="1225296"/>
          </a:xfrm>
          <a:prstGeom prst="roundRect">
            <a:avLst>
              <a:gd name="adj" fmla="val 5970"/>
            </a:avLst>
          </a:prstGeom>
          <a:solidFill>
            <a:srgbClr val="FAF5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30352" y="1280160"/>
            <a:ext cx="73152" cy="100584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1243584"/>
            <a:ext cx="5102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 formula / tensor contract</a:t>
            </a:r>
            <a:endParaRPr lang="en-US" sz="1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8368" y="1670820"/>
            <a:ext cx="5084064" cy="2062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8368" y="2075688"/>
            <a:ext cx="5084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exact DeepSeek implementation is more detailed; this slide shows the core low-rank compression idea.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57200" y="2578608"/>
            <a:ext cx="548640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21792" y="2651760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Shape-aware diagram</a:t>
            </a:r>
            <a:endParaRPr lang="en-US" sz="12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6928" y="2907792"/>
            <a:ext cx="5266944" cy="294436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263640" y="1170432"/>
            <a:ext cx="5470855" cy="4928616"/>
          </a:xfrm>
          <a:prstGeom prst="roundRect">
            <a:avLst>
              <a:gd name="adj" fmla="val 1484"/>
            </a:avLst>
          </a:prstGeom>
          <a:solidFill>
            <a:srgbClr val="0F172A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36792" y="1280160"/>
            <a:ext cx="73152" cy="470916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501384" y="1243584"/>
            <a:ext cx="50868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 implementation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428232" y="1481328"/>
            <a:ext cx="5141671" cy="4462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LatentAttention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__init__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d_model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num_heads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latent_rank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__init__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num_heads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d_h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d_model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num_heads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wq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Linear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d_model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num_heads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d_h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wc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Linear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d_model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latent_rank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wk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Linear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latent_rank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num_heads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d_h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wv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Linear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latent_rank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num_heads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d_h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</a:t>
            </a:r>
            <a:pPr indent="0" marL="0">
              <a:buNone/>
            </a:pP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forward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_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shape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q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wq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d_h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transpose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wc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[B,T,r]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k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wk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d_h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transpose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wv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d_h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transpose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scaled_dot_product_attention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k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40" dirty="0"/>
          </a:p>
        </p:txBody>
      </p:sp>
      <p:sp>
        <p:nvSpPr>
          <p:cNvPr id="18" name="Text 14"/>
          <p:cNvSpPr/>
          <p:nvPr/>
        </p:nvSpPr>
        <p:spPr>
          <a:xfrm>
            <a:off x="566928" y="6181344"/>
            <a:ext cx="10789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Shapes: X [B,T,d], latent cache C [B,T,r], Q [B,H,T,d_h], reconstructed K/V [B,H,T,d_h or d_v].</a:t>
            </a:r>
            <a:endParaRPr lang="en-US" sz="920" dirty="0"/>
          </a:p>
        </p:txBody>
      </p:sp>
      <p:sp>
        <p:nvSpPr>
          <p:cNvPr id="19" name="Text 15"/>
          <p:cNvSpPr/>
          <p:nvPr/>
        </p:nvSpPr>
        <p:spPr>
          <a:xfrm>
            <a:off x="566928" y="6355080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Introduced in: DeepSeek-AI, DeepSeek-V2 (2024)   •   Used in: DeepSeek-V2, DeepSeek-V3, DeepSeek-R1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1908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2E8F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Sliding Window Attention (SWA)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9217152" y="512064"/>
            <a:ext cx="2423160" cy="274320"/>
          </a:xfrm>
          <a:prstGeom prst="roundRect">
            <a:avLst>
              <a:gd name="adj" fmla="val 40000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326880" y="56235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&amp; inference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85216" y="84124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Restricts each token to attend only to a local window of nearby keys, improving long-context efficiency by sparsifying the attention pattern.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5486400" cy="1225296"/>
          </a:xfrm>
          <a:prstGeom prst="roundRect">
            <a:avLst>
              <a:gd name="adj" fmla="val 5970"/>
            </a:avLst>
          </a:prstGeom>
          <a:solidFill>
            <a:srgbClr val="FAF5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30352" y="1280160"/>
            <a:ext cx="73152" cy="100584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1243584"/>
            <a:ext cx="5102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 formula / tensor contract</a:t>
            </a:r>
            <a:endParaRPr lang="en-US" sz="1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55426" y="1545336"/>
            <a:ext cx="3889948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8368" y="2075688"/>
            <a:ext cx="5084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local window size w replaces full O(T²) connectivity with a banded pattern.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57200" y="2578608"/>
            <a:ext cx="548640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21792" y="2651760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Shape-aware diagram</a:t>
            </a:r>
            <a:endParaRPr lang="en-US" sz="12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6928" y="2907792"/>
            <a:ext cx="5266944" cy="294436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263640" y="1170432"/>
            <a:ext cx="5470855" cy="4928616"/>
          </a:xfrm>
          <a:prstGeom prst="roundRect">
            <a:avLst>
              <a:gd name="adj" fmla="val 1484"/>
            </a:avLst>
          </a:prstGeom>
          <a:solidFill>
            <a:srgbClr val="0F172A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36792" y="1280160"/>
            <a:ext cx="73152" cy="470916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501384" y="1243584"/>
            <a:ext cx="50868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 implementation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428232" y="1481328"/>
            <a:ext cx="5141671" cy="4462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sliding_window_attention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k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window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q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scores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q @ k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transpose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q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**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idx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torch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arange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device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too_old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idx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940" dirty="0">
                <a:solidFill>
                  <a:srgbClr val="AE8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idx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AE8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window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causal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idx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940" dirty="0">
                <a:solidFill>
                  <a:srgbClr val="AE8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idx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AE8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mask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too_old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causal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scores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scores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masked_fill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mask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'-inf'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scores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softmax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@ v</a:t>
            </a:r>
            <a:endParaRPr lang="en-US" sz="940" dirty="0"/>
          </a:p>
        </p:txBody>
      </p:sp>
      <p:sp>
        <p:nvSpPr>
          <p:cNvPr id="18" name="Text 14"/>
          <p:cNvSpPr/>
          <p:nvPr/>
        </p:nvSpPr>
        <p:spPr>
          <a:xfrm>
            <a:off x="566928" y="6181344"/>
            <a:ext cx="10789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Shapes: Q/K/V [B,H,T,d_h], local scores [B,H,T,w], output [B,H,T,d_h].</a:t>
            </a:r>
            <a:endParaRPr lang="en-US" sz="920" dirty="0"/>
          </a:p>
        </p:txBody>
      </p:sp>
      <p:sp>
        <p:nvSpPr>
          <p:cNvPr id="19" name="Text 15"/>
          <p:cNvSpPr/>
          <p:nvPr/>
        </p:nvSpPr>
        <p:spPr>
          <a:xfrm>
            <a:off x="566928" y="6355080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Introduced in: Beltagy et al., Longformer (2020)   •   Used in: Longformer, Mistral 7B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1908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2E8F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KV Cache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9217152" y="512064"/>
            <a:ext cx="2423160" cy="274320"/>
          </a:xfrm>
          <a:prstGeom prst="roundRect">
            <a:avLst>
              <a:gd name="adj" fmla="val 40000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326880" y="56235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&amp; inference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85216" y="84124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Stores past keys and values during autoregressive decoding so each new token only computes attention against the growing cache instead of recomputing old projections.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5486400" cy="1225296"/>
          </a:xfrm>
          <a:prstGeom prst="roundRect">
            <a:avLst>
              <a:gd name="adj" fmla="val 5970"/>
            </a:avLst>
          </a:prstGeom>
          <a:solidFill>
            <a:srgbClr val="FAF5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30352" y="1280160"/>
            <a:ext cx="73152" cy="100584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1243584"/>
            <a:ext cx="5102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 formula / tensor contract</a:t>
            </a:r>
            <a:endParaRPr lang="en-US" sz="1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8368" y="1638828"/>
            <a:ext cx="5084064" cy="2702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8368" y="2075688"/>
            <a:ext cx="5084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decode step t, the query has sequence length 1 while the cached K/V length grows with t.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57200" y="2578608"/>
            <a:ext cx="548640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21792" y="2651760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Shape-aware diagram</a:t>
            </a:r>
            <a:endParaRPr lang="en-US" sz="12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6928" y="2907792"/>
            <a:ext cx="5266944" cy="294436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263640" y="1170432"/>
            <a:ext cx="5470855" cy="4928616"/>
          </a:xfrm>
          <a:prstGeom prst="roundRect">
            <a:avLst>
              <a:gd name="adj" fmla="val 1484"/>
            </a:avLst>
          </a:prstGeom>
          <a:solidFill>
            <a:srgbClr val="0F172A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36792" y="1280160"/>
            <a:ext cx="73152" cy="470916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501384" y="1243584"/>
            <a:ext cx="50868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 implementation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428232" y="1481328"/>
            <a:ext cx="5141671" cy="4462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decode_step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k_cache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v_cache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wq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wk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wv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q_t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wq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[B,H,1,d_h]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k_t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wk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v_t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wv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k_cache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torch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k_cache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k_t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dim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[B,H,t,d_h]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v_cache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torch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v_cache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v_t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dim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y_t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scaled_dot_product_attention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q_t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k_cache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v_cache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y_t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k_cache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v_cache</a:t>
            </a:r>
            <a:endParaRPr lang="en-US" sz="940" dirty="0"/>
          </a:p>
        </p:txBody>
      </p:sp>
      <p:sp>
        <p:nvSpPr>
          <p:cNvPr id="18" name="Text 14"/>
          <p:cNvSpPr/>
          <p:nvPr/>
        </p:nvSpPr>
        <p:spPr>
          <a:xfrm>
            <a:off x="566928" y="6181344"/>
            <a:ext cx="10789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Shapes: x_t [B,1,d], q_t [B,H,1,d_h], cached K/V [B,H,t,d_h], output y_t [B,H,1,d_h].</a:t>
            </a:r>
            <a:endParaRPr lang="en-US" sz="920" dirty="0"/>
          </a:p>
        </p:txBody>
      </p:sp>
      <p:sp>
        <p:nvSpPr>
          <p:cNvPr id="19" name="Text 15"/>
          <p:cNvSpPr/>
          <p:nvPr/>
        </p:nvSpPr>
        <p:spPr>
          <a:xfrm>
            <a:off x="566928" y="6355080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Introduced in: Vaswani et al., Attention Is All You Need (2017); fast-decoding analysis in Shazeer (2019)   •   Used in: GPT-2/3, Llama 2/3, DeepSeek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1908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2E8F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QK-Norm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9217152" y="512064"/>
            <a:ext cx="2423160" cy="274320"/>
          </a:xfrm>
          <a:prstGeom prst="roundRect">
            <a:avLst>
              <a:gd name="adj" fmla="val 40000"/>
            </a:avLst>
          </a:prstGeom>
          <a:solidFill>
            <a:srgbClr val="ECFE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326880" y="56235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Normalization &amp; score shaping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85216" y="84124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Normalizes query and key vectors before the dot product, controlling score magnitude and often improving optimization stability.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5486400" cy="1225296"/>
          </a:xfrm>
          <a:prstGeom prst="roundRect">
            <a:avLst>
              <a:gd name="adj" fmla="val 5970"/>
            </a:avLst>
          </a:prstGeom>
          <a:solidFill>
            <a:srgbClr val="F0FD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30352" y="1280160"/>
            <a:ext cx="73152" cy="1005840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1243584"/>
            <a:ext cx="5102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 formula / tensor contract</a:t>
            </a:r>
            <a:endParaRPr lang="en-US" sz="1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8368" y="1548312"/>
            <a:ext cx="5084064" cy="4512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8368" y="2075688"/>
            <a:ext cx="5084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learned scalar s or per-head scale often replaces the usual 1/√d_h factor.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57200" y="2578608"/>
            <a:ext cx="548640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21792" y="2651760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Shape-aware diagram</a:t>
            </a:r>
            <a:endParaRPr lang="en-US" sz="12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6928" y="2907792"/>
            <a:ext cx="5266944" cy="294436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263640" y="1170432"/>
            <a:ext cx="5470855" cy="4928616"/>
          </a:xfrm>
          <a:prstGeom prst="roundRect">
            <a:avLst>
              <a:gd name="adj" fmla="val 1484"/>
            </a:avLst>
          </a:prstGeom>
          <a:solidFill>
            <a:srgbClr val="0F172A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36792" y="1280160"/>
            <a:ext cx="73152" cy="4709160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501384" y="1243584"/>
            <a:ext cx="50868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 implementation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428232" y="1481328"/>
            <a:ext cx="5141671" cy="4462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qk_norm_attention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k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scale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normalize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dim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normalize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dim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scores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scale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 @ k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transpose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weights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scores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softmax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weights @ v</a:t>
            </a:r>
            <a:endParaRPr lang="en-US" sz="940" dirty="0"/>
          </a:p>
        </p:txBody>
      </p:sp>
      <p:sp>
        <p:nvSpPr>
          <p:cNvPr id="18" name="Text 14"/>
          <p:cNvSpPr/>
          <p:nvPr/>
        </p:nvSpPr>
        <p:spPr>
          <a:xfrm>
            <a:off x="566928" y="6181344"/>
            <a:ext cx="10789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Shapes: Q,K [B,H,T,d_h], normalized Q/K same shape, scores [B,H,T,T], output [B,H,T,d_v].</a:t>
            </a:r>
            <a:endParaRPr lang="en-US" sz="920" dirty="0"/>
          </a:p>
        </p:txBody>
      </p:sp>
      <p:sp>
        <p:nvSpPr>
          <p:cNvPr id="19" name="Text 15"/>
          <p:cNvSpPr/>
          <p:nvPr/>
        </p:nvSpPr>
        <p:spPr>
          <a:xfrm>
            <a:off x="566928" y="6355080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Introduced in: Henry et al., Query-Key Normalization for Transformers (2020)   •   Used in: OLMo 2, Chameleon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1908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2E8F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Mixture-of-Experts (MoE)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9217152" y="512064"/>
            <a:ext cx="2423160" cy="274320"/>
          </a:xfrm>
          <a:prstGeom prst="roundRect">
            <a:avLst>
              <a:gd name="adj" fmla="val 40000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326880" y="56235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Sparse capacity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85216" y="84124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Routes each token to a small subset of experts so the model gets high total capacity while activating only a few feed-forward blocks per token.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5486400" cy="1225296"/>
          </a:xfrm>
          <a:prstGeom prst="roundRect">
            <a:avLst>
              <a:gd name="adj" fmla="val 5970"/>
            </a:avLst>
          </a:prstGeom>
          <a:solidFill>
            <a:srgbClr val="F0FDF4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30352" y="1280160"/>
            <a:ext cx="73152" cy="100584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1243584"/>
            <a:ext cx="5102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 formula / tensor contract</a:t>
            </a:r>
            <a:endParaRPr lang="en-US" sz="1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63587" y="1545336"/>
            <a:ext cx="2673626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8368" y="2075688"/>
            <a:ext cx="5084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shared expert path is sometimes added on top of the routed experts in modern sparse LLMs.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57200" y="2578608"/>
            <a:ext cx="548640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21792" y="2651760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Shape-aware diagram</a:t>
            </a:r>
            <a:endParaRPr lang="en-US" sz="12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6928" y="2907792"/>
            <a:ext cx="5266944" cy="294436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263640" y="1170432"/>
            <a:ext cx="5470855" cy="4928616"/>
          </a:xfrm>
          <a:prstGeom prst="roundRect">
            <a:avLst>
              <a:gd name="adj" fmla="val 1484"/>
            </a:avLst>
          </a:prstGeom>
          <a:solidFill>
            <a:srgbClr val="0F172A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36792" y="1280160"/>
            <a:ext cx="73152" cy="470916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501384" y="1243584"/>
            <a:ext cx="50868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 implementation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428232" y="1481328"/>
            <a:ext cx="5141671" cy="4462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SimpleMoE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__init__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d_model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d_hidden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num_experts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k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__init__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Linear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d_model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num_experts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experts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ModuleList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Sequential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Linear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d_model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d_hidden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GELU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Linear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d_hidden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d_model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_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num_experts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k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</a:t>
            </a:r>
            <a:pPr indent="0" marL="0">
              <a:buNone/>
            </a:pP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forward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gates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softmax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topw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topi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gates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topk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dim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out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weight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idx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zip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topw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unbind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topi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unbind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expert_out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torch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experts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enumerate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idx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out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out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weight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unsqueeze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expert_out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view_as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out</a:t>
            </a:r>
            <a:endParaRPr lang="en-US" sz="940" dirty="0"/>
          </a:p>
        </p:txBody>
      </p:sp>
      <p:sp>
        <p:nvSpPr>
          <p:cNvPr id="18" name="Text 14"/>
          <p:cNvSpPr/>
          <p:nvPr/>
        </p:nvSpPr>
        <p:spPr>
          <a:xfrm>
            <a:off x="566928" y="6181344"/>
            <a:ext cx="10789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Shapes: x [B,T,d], router logits [B,T,E], top-k weights [B,T,k], expert outputs [B,T,d], final y [B,T,d].</a:t>
            </a:r>
            <a:endParaRPr lang="en-US" sz="920" dirty="0"/>
          </a:p>
        </p:txBody>
      </p:sp>
      <p:sp>
        <p:nvSpPr>
          <p:cNvPr id="19" name="Text 15"/>
          <p:cNvSpPr/>
          <p:nvPr/>
        </p:nvSpPr>
        <p:spPr>
          <a:xfrm>
            <a:off x="566928" y="6355080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Introduced in: Jacobs et al., Adaptive Mixtures of Local Experts (1991); Transformer-scale MoE: Shazeer et al. (2017)   •   Used in: Switch Transformer, Mixtral, DeepSeek-V2/V3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1908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2E8F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GELU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9217152" y="512064"/>
            <a:ext cx="2423160" cy="274320"/>
          </a:xfrm>
          <a:prstGeom prst="roundRect">
            <a:avLst>
              <a:gd name="adj" fmla="val 40000"/>
            </a:avLst>
          </a:prstGeom>
          <a:solidFill>
            <a:srgbClr val="FFF7ED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326880" y="56235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Activations &amp; gated MLPs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85216" y="84124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smooth nonlinearity that keeps small negative values instead of hard-clipping them like ReLU.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5486400" cy="1225296"/>
          </a:xfrm>
          <a:prstGeom prst="roundRect">
            <a:avLst>
              <a:gd name="adj" fmla="val 5970"/>
            </a:avLst>
          </a:prstGeom>
          <a:solidFill>
            <a:srgbClr val="FFFBE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30352" y="1280160"/>
            <a:ext cx="73152" cy="100584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1243584"/>
            <a:ext cx="5102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 formula / tensor contract</a:t>
            </a:r>
            <a:endParaRPr lang="en-US" sz="1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9938" y="1545336"/>
            <a:ext cx="4240924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8368" y="2075688"/>
            <a:ext cx="5084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Widely used in feed-forward blocks of GPT/BERT-style Transformers.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57200" y="2578608"/>
            <a:ext cx="548640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21792" y="2651760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Shape-aware diagram</a:t>
            </a:r>
            <a:endParaRPr lang="en-US" sz="12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6928" y="2907792"/>
            <a:ext cx="5266944" cy="294436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263640" y="1170432"/>
            <a:ext cx="5470855" cy="4928616"/>
          </a:xfrm>
          <a:prstGeom prst="roundRect">
            <a:avLst>
              <a:gd name="adj" fmla="val 1484"/>
            </a:avLst>
          </a:prstGeom>
          <a:solidFill>
            <a:srgbClr val="0F172A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36792" y="1280160"/>
            <a:ext cx="73152" cy="470916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501384" y="1243584"/>
            <a:ext cx="50868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 implementation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428232" y="1481328"/>
            <a:ext cx="5141671" cy="4462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GELUActivation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forward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gelu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</a:t>
            </a:r>
            <a:pPr indent="0" marL="0">
              <a:buNone/>
            </a:pP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or explicitly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y = 0.5 * x * (1.0 + torch.tanh(math.sqrt(2 / math.pi) * (x + 0.044715 * x**3)))</a:t>
            </a:r>
            <a:endParaRPr lang="en-US" sz="940" dirty="0"/>
          </a:p>
        </p:txBody>
      </p:sp>
      <p:sp>
        <p:nvSpPr>
          <p:cNvPr id="18" name="Text 14"/>
          <p:cNvSpPr/>
          <p:nvPr/>
        </p:nvSpPr>
        <p:spPr>
          <a:xfrm>
            <a:off x="566928" y="6181344"/>
            <a:ext cx="10789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Shapes: pointwise activation on x and y with identical shape, typically [*, d_ff].</a:t>
            </a:r>
            <a:endParaRPr lang="en-US" sz="920" dirty="0"/>
          </a:p>
        </p:txBody>
      </p:sp>
      <p:sp>
        <p:nvSpPr>
          <p:cNvPr id="19" name="Text 15"/>
          <p:cNvSpPr/>
          <p:nvPr/>
        </p:nvSpPr>
        <p:spPr>
          <a:xfrm>
            <a:off x="566928" y="6355080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Introduced in: Hendrycks &amp; Gimpel, GELUs (2016)   •   Used in: BERT, GPT-2, Falcon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1908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2E8F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SiLU / Swish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9217152" y="512064"/>
            <a:ext cx="2423160" cy="274320"/>
          </a:xfrm>
          <a:prstGeom prst="roundRect">
            <a:avLst>
              <a:gd name="adj" fmla="val 40000"/>
            </a:avLst>
          </a:prstGeom>
          <a:solidFill>
            <a:srgbClr val="FFF7ED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326880" y="56235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Activations &amp; gated MLPs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85216" y="84124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Multiplies each value by its sigmoid gate, giving a smooth self-gating activation widely used in modern gated MLPs.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5486400" cy="1225296"/>
          </a:xfrm>
          <a:prstGeom prst="roundRect">
            <a:avLst>
              <a:gd name="adj" fmla="val 5970"/>
            </a:avLst>
          </a:prstGeom>
          <a:solidFill>
            <a:srgbClr val="FFFBE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30352" y="1280160"/>
            <a:ext cx="73152" cy="100584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1243584"/>
            <a:ext cx="5102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 formula / tensor contract</a:t>
            </a:r>
            <a:endParaRPr lang="en-US" sz="1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55821" y="1545336"/>
            <a:ext cx="3489158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8368" y="2075688"/>
            <a:ext cx="5084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SiLU often appears inside gated feed-forward blocks such as SwiGLU variants.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57200" y="2578608"/>
            <a:ext cx="548640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21792" y="2651760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Shape-aware diagram</a:t>
            </a:r>
            <a:endParaRPr lang="en-US" sz="12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6928" y="2907792"/>
            <a:ext cx="5266944" cy="294436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263640" y="1170432"/>
            <a:ext cx="5470855" cy="4928616"/>
          </a:xfrm>
          <a:prstGeom prst="roundRect">
            <a:avLst>
              <a:gd name="adj" fmla="val 1484"/>
            </a:avLst>
          </a:prstGeom>
          <a:solidFill>
            <a:srgbClr val="0F172A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36792" y="1280160"/>
            <a:ext cx="73152" cy="470916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501384" y="1243584"/>
            <a:ext cx="50868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 implementation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428232" y="1481328"/>
            <a:ext cx="5141671" cy="4462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SiLUActivation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forward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silu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</a:t>
            </a:r>
            <a:pPr indent="0" marL="0">
              <a:buNone/>
            </a:pP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equivalent: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y = x * torch.sigmoid(x)</a:t>
            </a:r>
            <a:endParaRPr lang="en-US" sz="940" dirty="0"/>
          </a:p>
        </p:txBody>
      </p:sp>
      <p:sp>
        <p:nvSpPr>
          <p:cNvPr id="18" name="Text 14"/>
          <p:cNvSpPr/>
          <p:nvPr/>
        </p:nvSpPr>
        <p:spPr>
          <a:xfrm>
            <a:off x="566928" y="6181344"/>
            <a:ext cx="10789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Shapes: pointwise activation on x and y with identical shape, typically [*, d_ff].</a:t>
            </a:r>
            <a:endParaRPr lang="en-US" sz="920" dirty="0"/>
          </a:p>
        </p:txBody>
      </p:sp>
      <p:sp>
        <p:nvSpPr>
          <p:cNvPr id="19" name="Text 15"/>
          <p:cNvSpPr/>
          <p:nvPr/>
        </p:nvSpPr>
        <p:spPr>
          <a:xfrm>
            <a:off x="566928" y="6355080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Introduced in: Elfwing et al., SiLU (2017); popularized as Swish by Ramachandran et al. (2017)   •   Used in: Inside SwiGLU in PaLM, Llama 2/3, Mistral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1908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2E8F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SwiGLU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9217152" y="512064"/>
            <a:ext cx="2423160" cy="274320"/>
          </a:xfrm>
          <a:prstGeom prst="roundRect">
            <a:avLst>
              <a:gd name="adj" fmla="val 40000"/>
            </a:avLst>
          </a:prstGeom>
          <a:solidFill>
            <a:srgbClr val="FFF7ED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326880" y="56235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Activations &amp; gated MLPs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85216" y="84124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gated feed-forward block that combines a SiLU gate branch with a value branch before projecting back to the model dimension.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5486400" cy="1225296"/>
          </a:xfrm>
          <a:prstGeom prst="roundRect">
            <a:avLst>
              <a:gd name="adj" fmla="val 5970"/>
            </a:avLst>
          </a:prstGeom>
          <a:solidFill>
            <a:srgbClr val="FFFBE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30352" y="1280160"/>
            <a:ext cx="73152" cy="100584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1243584"/>
            <a:ext cx="5102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 formula / tensor contract</a:t>
            </a:r>
            <a:endParaRPr lang="en-US" sz="1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8368" y="1623964"/>
            <a:ext cx="5084064" cy="29994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8368" y="2075688"/>
            <a:ext cx="5084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SwiGLU is commonly used in modern Transformer MLPs because the gate improves expressivity at similar compute cost.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57200" y="2578608"/>
            <a:ext cx="548640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21792" y="2651760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Shape-aware diagram</a:t>
            </a:r>
            <a:endParaRPr lang="en-US" sz="12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6928" y="2907792"/>
            <a:ext cx="5266944" cy="294436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263640" y="1170432"/>
            <a:ext cx="5470855" cy="4928616"/>
          </a:xfrm>
          <a:prstGeom prst="roundRect">
            <a:avLst>
              <a:gd name="adj" fmla="val 1484"/>
            </a:avLst>
          </a:prstGeom>
          <a:solidFill>
            <a:srgbClr val="0F172A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36792" y="1280160"/>
            <a:ext cx="73152" cy="470916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501384" y="1243584"/>
            <a:ext cx="50868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 implementation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428232" y="1481328"/>
            <a:ext cx="5141671" cy="4462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SwiGLU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__init__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d_model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d_ff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__init__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wg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Linear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d_model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d_ff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bias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AE8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wu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Linear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d_model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d_ff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bias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AE8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Linear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d_ff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d_model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bias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AE8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</a:t>
            </a:r>
            <a:pPr indent="0" marL="0">
              <a:buNone/>
            </a:pP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forward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gate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silu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wg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up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wu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up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40" dirty="0"/>
          </a:p>
        </p:txBody>
      </p:sp>
      <p:sp>
        <p:nvSpPr>
          <p:cNvPr id="18" name="Text 14"/>
          <p:cNvSpPr/>
          <p:nvPr/>
        </p:nvSpPr>
        <p:spPr>
          <a:xfrm>
            <a:off x="566928" y="6181344"/>
            <a:ext cx="10789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Shapes: x [B,T,d], gate/up [B,T,d_{ff}], gated product [B,T,d_{ff}], output [B,T,d].</a:t>
            </a:r>
            <a:endParaRPr lang="en-US" sz="920" dirty="0"/>
          </a:p>
        </p:txBody>
      </p:sp>
      <p:sp>
        <p:nvSpPr>
          <p:cNvPr id="19" name="Text 15"/>
          <p:cNvSpPr/>
          <p:nvPr/>
        </p:nvSpPr>
        <p:spPr>
          <a:xfrm>
            <a:off x="566928" y="6355080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Introduced in: Shazeer, GLU Variants Improve Transformer (2020)   •   Used in: PaLM, Llama 2/3, Mistral, OpenELM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1908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2E8F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 Architecture Components</dc:title>
  <dc:subject>LLM architecture components</dc:subject>
  <dc:creator>OpenAI Codex</dc:creator>
  <cp:lastModifiedBy>OpenAI Codex</cp:lastModifiedBy>
  <cp:revision>1</cp:revision>
  <dcterms:created xsi:type="dcterms:W3CDTF">2026-03-29T04:54:47Z</dcterms:created>
  <dcterms:modified xsi:type="dcterms:W3CDTF">2026-03-29T04:54:47Z</dcterms:modified>
</cp:coreProperties>
</file>