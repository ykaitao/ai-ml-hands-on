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L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658368"/>
            <a:ext cx="2697480" cy="475488"/>
          </a:xfrm>
          <a:prstGeom prst="roundRect">
            <a:avLst>
              <a:gd name="adj" fmla="val 30769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59952" y="79552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Refined deck • +4 new components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Architecture Components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4358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Formulas, tensor-shape diagrams, and PyTorch reference implementations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155448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167792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40280" y="1627632"/>
            <a:ext cx="205740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50008" y="1677924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627632"/>
            <a:ext cx="178308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77924"/>
            <a:ext cx="1563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627632"/>
            <a:ext cx="19659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4808" y="1677924"/>
            <a:ext cx="1746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011680"/>
            <a:ext cx="5486400" cy="3794760"/>
          </a:xfrm>
          <a:prstGeom prst="roundRect">
            <a:avLst>
              <a:gd name="adj" fmla="val 1928"/>
            </a:avLst>
          </a:prstGeom>
          <a:solidFill>
            <a:srgbClr val="FCFCFD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" y="2121408"/>
            <a:ext cx="73152" cy="35753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084832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2450592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&amp; position: Positional Embedding, RoPE, ALiBi, NoPE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regularization: Dropout, LayerNorm, RMSNorm, QK-Norm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family: Scaled Dot-Product, MHA, MQA, GQA, MLA, Sliding Window Attention, KV cache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capacity &amp; activations: Mixture-of-Experts, GELU, SiLU, SwiGLU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slide includes: formula, tensor-shape flow diagram, and PyTorch code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2011680"/>
            <a:ext cx="5239512" cy="3794760"/>
          </a:xfrm>
          <a:prstGeom prst="roundRect">
            <a:avLst>
              <a:gd name="adj" fmla="val 1928"/>
            </a:avLst>
          </a:prstGeom>
          <a:solidFill>
            <a:srgbClr val="FCFCFD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73952" y="2121408"/>
            <a:ext cx="73152" cy="3575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8544" y="2084832"/>
            <a:ext cx="4855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Notation used throughout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9400" y="2450592"/>
            <a:ext cx="4754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batch size, T = sequence length, d = model dimension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number of attention heads, d_h = per-head dimension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number of KV groups (for GQA), r = latent rank (for MLA)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= number of experts, k = top-k routed experts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snippets assume: import torch, torch.nn as nn, torch.nn.functional as 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6181344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for lecture_notes/LLMs.pptx • editable PowerPoint deck authored with PptxGenJS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of component slides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prompt repeated GQA twice; this deck keeps a single dedicated GQA slide.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435608"/>
            <a:ext cx="73152" cy="17922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39903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764792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Embedding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RoPE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ALiBi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45352" y="13258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18504" y="1435608"/>
            <a:ext cx="73152" cy="17922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83096" y="139903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19672" y="1764792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 Attention</a:t>
            </a:r>
            <a:pPr indent="0" marL="0">
              <a:buNone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</a:t>
            </a:r>
            <a:pPr indent="0" marL="0">
              <a:buNone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MQA</a:t>
            </a:r>
            <a:pPr indent="0" marL="0">
              <a:buNone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GQA</a:t>
            </a:r>
            <a:pPr indent="0" marL="0">
              <a:buNone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MLA</a:t>
            </a:r>
            <a:pPr indent="0" marL="0">
              <a:buNone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Attention</a:t>
            </a:r>
            <a:pPr indent="0" marL="0">
              <a:buNone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" y="3767328"/>
            <a:ext cx="73152" cy="192938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73075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1148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LayerNorm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RMSNorm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QK-Norm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2960" y="53766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slides focus on stability, regularization, and how score magnitudes are controlled during training and inference.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45352" y="36576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18504" y="3767328"/>
            <a:ext cx="73152" cy="19293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3096" y="373075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capacity &amp; activations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19672" y="41148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Mixture-of-Experts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GELU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SiLU</a:t>
            </a:r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19672" y="53766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slide is pedagogical rather than model-specific: shapes reflect the common PyTorch tensor contracts used in LLM implementations.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Embedding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position-dependent vector to token embeddings so the model can distinguish order before any attention happens.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26293"/>
            <a:ext cx="5084064" cy="2952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and sinusoidal position tables both map each position index to a d-dimensional vector.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LearnedPositionalEmbedding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max_len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Embedding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max_len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pos_ids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device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pos_ids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token ids [B,T], token embeddings [B,T,d], position table [T,d], output hidden states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   •   Used in: GPT-2, BERT, GPT-3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RoPE (Rotary Position Embeddings)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Rotates paired Q/K coordinates by position-dependent angles, turning dot products into a relative-position-aware similarity measure.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5946" y="1545336"/>
            <a:ext cx="4448908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RoPE is applied after Q/K projection and before computing attention scores.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apply_rope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x2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flatten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rot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apply_rope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[B,H,T,d_h]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apply_rope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[B,H,T,d_h]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Q,K [B,H,T,d_h], angle table [T,d_h/2], rotated Q/K keep the same shape, scores [B,H,T,T].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Su et al., RoFormer (2021)   •   Used in: LLaMA/Llama 2/3, DeepSeek-V2/V3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ALiBi (Attention with Linear Biases)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head-specific linear distance penalty directly to attention scores so the model can represent recency bias without explicit positional vectors.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68905" y="1545336"/>
            <a:ext cx="2662989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heads use different slopes m_h, giving a spectrum from local to more global attention bias.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alibi_attention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slopes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device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clamp_min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[T,T]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bias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slopes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dist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[H,T,T]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weights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Q,K [B,H,T,d_h], raw scores [B,H,T,T], ALiBi bias [H,T,T], biased scores [B,H,T,T].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Press et al., Train Short, Test Long (2021)   •   Used in: BLOOM, MPT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NoPE (No Positional Embeddings)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order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explicit positional signals entirely; order then must emerge from masking, data statistics, or other architectural biases.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6449" y="1545336"/>
            <a:ext cx="4907902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attention rule is unchanged, but there is no learned/sinusoidal/rotary positional term.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nope_attention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[B,T,H*d_h]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masked_fill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'-inf'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Q/K/V [B,H,T,d_h], scores [B,H,T,T],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Haviv et al., Transformer LMs without Positional Encodings... (2022)   •   Used in: Mostly research decoder-only LMs; uncommon in mainstream frontier LLMs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drops activations during training and rescales the survivors, reducing co-adaptation and overfitting.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0449" y="1545336"/>
            <a:ext cx="3679902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evaluation time, dropout is disabled and the identity map is used.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DropoutBlock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Dropout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x, mask, y all share the same tensor shape, often [B,T,d] or [B,H,T,T] in attention dropout.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Srivastava et al., Dropout (2014)   •   Used in: Transformer, BERT, GPT-2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LayerNorm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Normalizes each token across its feature dimension using mean and variance, then applies learned affine parameters.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6227" y="1545336"/>
            <a:ext cx="2348345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Transformers, μ and σ² are computed over the last dimension d for each token independently.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LayerNormLastDim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1e-5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gamma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mean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keepdim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keepdim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unbiased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x_hat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sqrt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gamma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x_hat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x,y [B,T,d]; mean and variance are [B,T,1]; γ and β are [d].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Ba et al., Layer Normalization (2016)   •   Used in: Transformer, BERT, GPT-2, OPT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RMSNorm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Normalizes only by root-mean-square magnitude and omits mean subtraction, which is cheaper and popular in modern LLMs.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09011" y="1545336"/>
            <a:ext cx="2582779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RMSNorm keeps the direction of x but rescales its RMS magnitude on the last dimension.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RMSNorm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1e-6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rms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rsqrt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keepdim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rms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x,y [B,T,d]; rms factor [B,T,1]; learned scale γ [d].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Zhang &amp; Sennrich, RMSNorm (2019)   •   Used in: LLaMA/Llama 2, Mistral, OpenELM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 Attention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attention operator: compare queries against keys, normalize with softmax, then aggregate values.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5555" y="1545336"/>
            <a:ext cx="334969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mask M is often causal and/or padded; scores are normalized along the key axis.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scaled_dot_product_attention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d_h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masked_fill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'-inf'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weights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 [B,H,T_q,d_h], K [B,H,T_k,d_h], V [B,H,T_k,d_v], output [B,H,T_q,d_v].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   •   Used in: BERT, GPT-2, Llama 2/3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 (MHA)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Q/K/V into multiple subspaces, runs attention independently in each head, then concatenates the results.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96658"/>
            <a:ext cx="5084064" cy="1545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head gets its own learned projections and can specialize to different patterns.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MultiHeadAttention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qkv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qkv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chunk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Q/K/V [B,H,T,d_h], concat [B,T,H·d_h], projected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   •   Used in: Transformer, BERT, GPT-2/3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Multi-Query Attention (MQA)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many query heads but a single shared key/value head, giving the smallest KV cache among standard attention-sharing variants.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45823"/>
            <a:ext cx="5084064" cy="25622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MQA is the extreme sharing case: all query heads reuse the same K and V tensors.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MultiQueryAttention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[B,1,T,d_h]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 [B,H,T,d_h], K/V [B,1,T,d_h], expanded shared KV [B,H,T,d_h],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Shazeer, Fast Transformer Decoding (2019)   •   Used in: PaLM, Falcon, StarCoder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Grouped-Query Attention (GQA)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many query heads but fewer K/V groups, reducing KV-cache memory and decode bandwidth while keeping more query diversity than MQA.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27682"/>
            <a:ext cx="5084064" cy="2925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head h maps to one KV group g(h); each group is shared across several heads.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GroupedQueryAttention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num_q_heads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num_kv_groups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num_q_heads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num_kv_groups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num_q_heads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repeat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repeat_interleave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repeat_interleave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 [B,H,T,d_h], K/V [B,G,T,d_h], repeated KV after sharing [B,H,T,d_h],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Ainslie et al., GQA (2023)   •   Used in: Llama 2 70B, Llama 3, OpenELM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Latent Attention (MLA)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Compresses KV information into a lower-rank latent state, then reconstructs or expands head-specific K/V features from that compact cache.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70820"/>
            <a:ext cx="5084064" cy="2062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DeepSeek implementation is more detailed; this slide shows the core low-rank compression idea.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latent_rank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latent_rank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latent_rank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latent_rank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num_heads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[B,T,r]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latent cache C [B,T,r], Q [B,H,T,d_h], reconstructed K/V [B,H,T,d_h or d_v].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DeepSeek-AI, DeepSeek-V2 (2024)   •   Used in: DeepSeek-V2, DeepSeek-V3, DeepSeek-R1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Attention (SWA)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each token to attend only to a local window of nearby keys, improving long-context efficiency by sparsifying the attention pattern.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55426" y="1545336"/>
            <a:ext cx="3889948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 window size w replaces full O(T²) connectivity with a banded pattern.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sliding_window_attention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window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@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arange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device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too_old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window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causal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mask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too_old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causal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masked_fill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'-inf'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Q/K/V [B,H,T,d_h], local scores [B,H,T,w], output [B,H,T,d_h].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Beltagy et al., Longformer (2020)   •   Used in: Longformer, Mistral 7B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&amp; inference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past keys and values during autoregressive decoding so each new token only computes attention against the growing cache instead of recomputing old projections.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AF5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38828"/>
            <a:ext cx="5084064" cy="270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decode step t, the query has sequence length 1 while the cached K/V length grows with 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decode_step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q_t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[B,H,1,d_h]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k_t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k_cache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[B,H,t,d_h]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v_cache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y_t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scaled_dot_product_attention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y_t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k_cache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v_cache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x_t [B,1,d], q_t [B,H,1,d_h], cached K/V [B,H,t,d_h], output y_t [B,H,1,d_h].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Vaswani et al., Attention Is All You Need (2017); fast-decoding analysis in Shazeer (2019)   •   Used in: GPT-2/3, Llama 2/3, DeepSeek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QK-Norm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&amp; score shaping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Normalizes query and key vectors before the dot product, controlling score magnitude and often improving optimization stability.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548312"/>
            <a:ext cx="5084064" cy="4512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learned scalar s or per-head scale often replaces the usual 1/√d_h factor.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qk_norm_attention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scale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@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weights @ v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Q,K [B,H,T,d_h], normalized Q/K same shape, scores [B,H,T,T], output [B,H,T,d_v].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Henry et al., Query-Key Normalization for Transformers (2020)   •   Used in: OLMo 2, Chameleon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Mixture-of-Experts (MoE)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capacity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each token to a small subset of experts so the model gets high total capacity while activating only a few feed-forward blocks per token.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63587" y="1545336"/>
            <a:ext cx="2673626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expert path is sometimes added on top of the routed experts in modern sparse LLMs.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SimpleMoE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d_hidden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num_experts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num_experts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experts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ModuleList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Sequential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d_hidden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GELU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d_hidden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num_experts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gates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topi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gates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dim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unbind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topi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unbind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expert_out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experts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out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weight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unsqueeze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expert_out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view_as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out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router logits [B,T,E], top-k weights [B,T,k], expert outputs [B,T,d], final y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Jacobs et al., Adaptive Mixtures of Local Experts (1991); Transformer-scale MoE: Shazeer et al. (2017)   •   Used in: Switch Transformer, Mixtral, DeepSeek-V2/V3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smooth nonlinearity that keeps small negative values instead of hard-clipping them like ReLU.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38" y="1545336"/>
            <a:ext cx="4240924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Widely used in feed-forward blocks of GPT/BERT-style Transformers.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GELUActivation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gelu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explicitly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0.5 * x * (1.0 + torch.tanh(math.sqrt(2 / math.pi) * (x + 0.044715 * x**3)))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pointwise activation on x and y with identical shape, typically [*, d_ff].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Hendrycks &amp; Gimpel, GELUs (2016)   •   Used in: BERT, GPT-2, Falcon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SiLU / Swish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Multiplies each value by its sigmoid gate, giving a smooth self-gating activation widely used in modern gated MLPs.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55821" y="1545336"/>
            <a:ext cx="3489158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SiLU often appears inside gated feed-forward blocks such as SwiGLU variants.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SiLUActivation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silu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equivalent: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x * torch.sigmoid(x)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pointwise activation on x and y with identical shape, typically [*, d_ff].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Elfwing et al., SiLU (2017); popularized as Swish by Ramachandran et al. (2017)   •   Used in: Inside SwiGLU in PaLM, Llama 2/3, Mistral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217152" y="512064"/>
            <a:ext cx="2423160" cy="274320"/>
          </a:xfrm>
          <a:prstGeom prst="roundRect">
            <a:avLst>
              <a:gd name="adj" fmla="val 40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0" y="56235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 &amp; gated MLPs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85216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gated feed-forward block that combines a SiLU gate branch with a value branch before projecting back to the model dimension.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486400" cy="1225296"/>
          </a:xfrm>
          <a:prstGeom prst="roundRect">
            <a:avLst>
              <a:gd name="adj" fmla="val 597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" y="1280160"/>
            <a:ext cx="73152" cy="10058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43584"/>
            <a:ext cx="5102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formula / tensor contract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623964"/>
            <a:ext cx="5084064" cy="29994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075688"/>
            <a:ext cx="508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 is commonly used in modern Transformer MLPs because the gate improves expressivity at similar compute cost.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57860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" y="265176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Shape-aware diagram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" y="2907792"/>
            <a:ext cx="5266944" cy="29443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63640" y="1170432"/>
            <a:ext cx="5470855" cy="4928616"/>
          </a:xfrm>
          <a:prstGeom prst="roundRect">
            <a:avLst>
              <a:gd name="adj" fmla="val 1484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25400" dist="12700" dir="27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280160"/>
            <a:ext cx="73152" cy="47091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01384" y="1243584"/>
            <a:ext cx="5086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implementation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28232" y="1481328"/>
            <a:ext cx="5141671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SwiGLU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d_ff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wg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d_ff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wu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d_ff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nn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d_ff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d_model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bias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AE8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</a:t>
            </a:r>
            <a:pPr indent="0" marL="0">
              <a:buNone/>
            </a:pP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gate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silu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wg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up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wu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940" dirty="0">
                <a:solidFill>
                  <a:srgbClr val="8292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940" dirty="0">
                <a:solidFill>
                  <a:srgbClr val="66D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self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9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up</a:t>
            </a:r>
            <a:pPr indent="0" marL="0">
              <a:buNone/>
            </a:pPr>
            <a:r>
              <a:rPr lang="en-US" sz="940" dirty="0">
                <a:solidFill>
                  <a:srgbClr val="F8F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40" dirty="0"/>
          </a:p>
        </p:txBody>
      </p:sp>
      <p:sp>
        <p:nvSpPr>
          <p:cNvPr id="18" name="Text 14"/>
          <p:cNvSpPr/>
          <p:nvPr/>
        </p:nvSpPr>
        <p:spPr>
          <a:xfrm>
            <a:off x="566928" y="6181344"/>
            <a:ext cx="10789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Shapes: x [B,T,d], gate/up [B,T,d_{ff}], gated product [B,T,d_{ff}], output [B,T,d].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 in: Shazeer, GLU Variants Improve Transformer (2020)   •   Used in: PaLM, Llama 2/3, Mistral, OpenELM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2E8F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Architecture Components</dc:title>
  <dc:subject>LLM architecture components</dc:subject>
  <dc:creator>OpenAI Codex</dc:creator>
  <cp:lastModifiedBy>OpenAI Codex</cp:lastModifiedBy>
  <cp:revision>1</cp:revision>
  <dcterms:created xsi:type="dcterms:W3CDTF">2026-03-29T04:03:35Z</dcterms:created>
  <dcterms:modified xsi:type="dcterms:W3CDTF">2026-03-29T04:03:35Z</dcterms:modified>
</cp:coreProperties>
</file>